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Space Grotesk"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دكتور. نحنا فريق المشروع: غيث وبيان ومحمد (كل واحد يعرّف عن حاله بكلمة). مشروعنا اسمه Detecting Data Leakage in Cloud Storage with Interpretable Machine Learning، يعني كشف تسريب البيانات من التخزين السحابي باستخدام تعلم آلة قابل للتفسير. رح نعرض شو عملنا لهلأ: المشكلة، المقالة يلي بنينا عليها، شو لقينا فيها، كيف حسّنا النتائج، وشو باقي.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هاد جدول بيقارن مشروعنا مع أربع أبحاث. الأول هو المقالة الأساسية: شجرة قرار بعمق 3 على بيانات Kaggle، ودقتها 70.8% بس الـ recall تبعها 31.5%، وهي أحسن بشوي من نموذج بيقول دايماً "طبيعي" (68.9%). التاني لـ Apicella: مراجعة بتصنّف أنواع التسريب المنهجي بتعلم الآلة، واعتمدنا عليها لنصمّم الـ pipeline تبعنا. التالت لـ Hakim: صنّفوا أساليب الهجوم من تقارير التهديدات، وطلعت دقتهم فوق 99%، بس عملوا resampling قبل الـ cross-validation، وهاد ممكن ينفخ النتائج. الرابع لـ Komka: نفس التهديد (موظفين من جوّا بالسحابة)، بس الهجمات كانت مزروعة صناعياً، فالنتائج متفائلة.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هون ملخص الفرق بيننا وبين المقالة بست نقاط. النموذج: هنن شجرة بعمق 3، ونحنا شجرة مضبوطة، وجرّبنا XGBoost وزاد 0.013 بس، فخلّينا الشجرة لأنها بتنقرا. الخصائص: نفس التسعة وزدنا الوجهة الخارجية والساعة، وهاد أكبر تحسين (+0.122). عدم التوازن: المقالة ما عالجته، ونحنا استخدمنا أوزان الأصناف، يعني التسريب الفايت بيكلّف تقريباً 2.2 ضعف، وكانت أحسن من SMOTEN وإعادة العينات. العتبة: بدل 0.5 اخترنا 0.416 لنمسك 80% من التسريبات على الأقل. التقييم: قسمنا البيانات قبل أي تدريب وفتحنا الاختبار مرة وحدة. والتفسير: كل إنذار معه القاعدة يلي طلّعته.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البيانات السرية ممكن تطلع من الشركة عن طريق ناس عندهم صلاحية أصلاً، يعني موظف من جوّا أو حساب انسرق. الجدار الناري ما بيشوف شي غلط لأن الدخول نظامي. بس التخزين السحابي بيسجّل كل عملية: مين فتح أي ملف، أيمتى، ولوين بعته. أدوات DLP التقليدية بتشتغل بقواعد ثابتة، فبتعطي إنذارات كاذبة كتير وبتفوّتها الحالات الجديدة. هدفنا: نموذج بيتعلم شكل التسريب من السجلات، وبيشرح ليش طلع كل إنذار.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المقالة يلي بنينا عليها لـ Harahap و Hasibuan، منشورة بـ JISI سنة 2025. استخدموا شجرة قرار بمعيار entropy وعمق 3، على تسع خصائص، وحكوا إنهم عملوا one-hot encoding. نشروا دقة 70.8%، بس الرقم الأهم بالأمن هو الـ recall على صف التسريب، يعني من كل التسريبات الحقيقية قديش مسك النموذج، وهو 31.5% بس. البيانات من Kaggle: 49,500 حدث، كل سطر عملية عملها موظف على ملف، و31% منها تسريب. الأعمدة بتحكي مين الموظف وصلاحيته، كيف دخل (كلمة سر، PIN، MFA)، شو عمل بالملف، قديش الملف سري وحساس، لوين انبعت، وأيمتى. والعمود الأخير هو الجواب: تسريب أو لأ.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 فحصنا المقالة لقينا ثلاث مشاكل. أولاً: 69% من الأحداث طبيعية، فنموذج غبي بيقول دايماً "طبيعي" بياخد دقة 68.9%، يعني المقالة أحسن منه بنقطتين بس. ثانياً: الـ recall 31.5%، يعني النموذج بيفوّت تقريباً 7 تسريبات من كل 10، وهاد بالأمن سيء. ثالثاً حسبنا السقف: بالخصائص التسعة، 91% من الأحداث إلها نفس تركيبة الخصائص بالضبط متل أحداث من الصنف التاني، يعني نفس الوصف مرة تسريب ومرة لأ. فأحسن نموذج ممكن ما بيطلع فوق 74.3% دقة. الخلاصة: المشكلة بالمعلومات يلي منعطيها للنموذج، مش بالخوارزمية.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انتبهوا لشغلة: كلمة leakage إلها معنيين بالمشروع. الأول تسريب البيانات، وهو موضوع المشروع. التاني بتعلم الآلة: إنو معلومات من بيانات الاختبار تتسرب لمرحلة التدريب، فتطلع النتائج أحلى من الحقيقة. Leakage-safe يعني منعنا المعنى التاني. الخطوات: أول شي فحصنا البيانات وحسبنا السقف. بعدين قسمنا 80 لـ 20 قبل أي تدريب، وقفلنا 9,900 حدث للاختبار. كل التجارب صارت على بيانات التدريب بس: شجرة المقالة، الخصائص الجديدة، ثلاث نماذج، أربع طرق توازن، والعتبة. وبالآخر فتحنا الاختبار مرة وحدة. وكل خطوة بتتعلم من البيانات (تعبئة القيم الناقصة، الترميز، إعادة العينات) موجودة جوّا pipeline وبتنعاد بكل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أي تحسين، أعدنا بناء شجرة المقالة متل ما كاتبين (one-hot، عمق 3)، وطلعت دقتها 0.695 وبتمسك 10% من التسريبات، أقل من يلي كاتبينه (0.708 و 0.315)، وهي المرجع يلي منقارن معه. بعدين عملنا ثلاث تحسينات. أولاً ضفنا خاصيتين: الوجهة الخارجية (التسريب 39% مقابل 26%) والساعة (40% برّا الدوام مقابل 16% جوّا). هاد أكبر تحسين: زاد الـ PR-AUC بـ 0.122. ثانياً جرّبنا Random Forest و XGBoost، وأحسن واحد زاد 0.013 بس، فخلّينا الشجرة لأنها مفهومة، وأوزان الصفوف كانت أحسن من SMOTEN وإعادة العينات. ثالثاً العتبة: بدل 0.5 اخترنا 0.416 من بيانات التدريب بس، لنمسك على الأقل 80% من التسريبات بأعلى دقة ممكنة. الـ PR-AUC مقياس بيركّز على صف التسريب، والتخمين العشوائي بياخد فيه 0.311.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هلأ النتيجة الأساسية، على بيانات الاختبار يلي ما لمسناها لآخر خطوة: 9,900 حدث، منهم 3,079 تسريب. شجرة المقالة، لما بنيناها متل ما كاتبين (one-hot)، مسكت 311 تسريب بس، وشجرتنا مسكت 2,547، يعني تقريباً 8 أضعاف. الـ recall طلع من 0.10 لـ 0.83، والـ MCC (صفر للتخمين وواحد للكمال) من 0.13 لـ 0.43، والـ PR-AUC من 0.45 لـ 0.61. ونتائج الاختبار قريبة من نتائج الـ cross-validation، يعني التقييم نزيه. إذا سألنا الدكتور ليش نسختنا من المقالة بتمسك 10% مع إنهم كاتبين 31.5%: المقالة كاتبة إنها استخدمت one-hot، فبنيناها هيك. بس شجرتها المنشورة فيها شرط Authority ≤ 3.5، يعني فعلياً استخدموا أرقام. لما بنيناها بالأرقام طلع الـ recall 0.30، قريب من رقمهم، وحتى مقارنة معها شجرتنا بتمسك تقريباً 2.8 ضعف (2,547 مقابل 918).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بس في ثمن، ولازم نكون صريحين فيه. هي مصفوفة الالتباس لشجرتنا على الاختبار: مسكنا 2,547 تسريب وفوّتنا 532 بس. بالمقابل في 2,482 إنذار كاذب. يعني تقريباً نص الأحداث بتعمل إنذار (51%)، بينما شجرة المقالة 6% بس. والـ precision تقريباً 0.5، يعني من كل إنذارين واحد تسريب حقيقي. هاد سببه إنو الخصائص خشنة ومختلطة متل ما شفنا بالسقف. والشي الملفت: دقة الشجرتين تقريباً نفس الشي، 0.70، مع إنو وحدة بتمسك 10% من التسريبات والتانية 83%. هيك منعرف إنو الـ accuracy لحالها مقياس مضلل لمشكلة متل هي.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هون الفرق بين نموذجنا وأي صندوق أسود: كل إنذار إلو سبب بينقرا. على اليسار أقوى قاعدة بالشجرة: إذا انبعت ملف سري، لوجهة خارجية، من موظف عادي أو متدرب أو مدير كبير، بدون دخول بكلمة سر، والملف حساسيته عالية أو متوسطة، والساعة بين 12 و 3 بالليل، فهو تسريب. هالمسار مرّ فيه 369 حدث تدريب، 61% منهم تسريب. وكل القواعد الخمسة الأقوى بتبلّش بنقل ملف سري لوجهة خارجية، وهاد منطقي أمنياً. على اليمين أهمية الخصائص: منخربط خاصية وحدة ومنشوف قديش بينزل الأداء. الخاصيتين الجداد يلي ضفناهم (الوجهة والساعة) طلعوا بالمرتبة الثانية والرابعة، و Data Modification ما إلها أي تأثير.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منختم بالحدود والخطوات الجاية. الحدود: الخصائص خشنة، حتى بعد الوجهة الخارجية 85% من الأحداث إلها نفس التركيبة متل أحداث من الصنف التاني. الإنذارات كتيرة، تقريباً نص الأحداث، ونصها بس حقيقي. الشجرة كبيرة، 545 ورقة، والقواعد الأقوى من 6 لـ 9 شروط. وكل حدث عم ينحكم عليه لحاله بدون تاريخ الموظف، والبيانات صناعية. الخطوات الجاية: أولاً اختبار التهرب، يعني منعدّل أحداث التسريب متل المهاجم الذكي (يشتغل بوقت الدوام أو يبعت لوجهة داخلية) ومنشوف قديش بينزل الـ recall، لأن نموذجنا معتمد كتير على الساعة والوجهة. ثانياً نموذج أولي: خدمة بتستقبل حدث وبترجّع الدرجة والقرار والقاعدة، مع شاشة للمحلل. ثالثاً التقرير. وبعدها منكون جاهزين لأسئلتك دكتور.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102224"/>
            <a:ext cx="10566473" cy="447012"/>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latin typeface="Space Grotesk" charset="0"/>
              <a:ea typeface="Space Grotesk" charset="0"/>
              <a:cs typeface="Space Grotesk" charset="0"/>
            </a:endParaRPr>
          </a:p>
        </p:txBody>
      </p:sp>
      <p:sp>
        <p:nvSpPr>
          <p:cNvPr id="3" name="Text Placeholder 2"/>
          <p:cNvSpPr/>
          <p:nvPr>
            <p:ph idx="101" type="body"/>
          </p:nvPr>
        </p:nvSpPr>
        <p:spPr>
          <a:xfrm>
            <a:off x="812750" y="1854037"/>
            <a:ext cx="10566450" cy="419116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102224"/>
            <a:ext cx="10566473" cy="447012"/>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latin typeface="Space Grotesk" charset="0"/>
              <a:ea typeface="Space Grotesk" charset="0"/>
              <a:cs typeface="Space Grotesk" charset="0"/>
            </a:endParaRPr>
          </a:p>
        </p:txBody>
      </p:sp>
      <p:sp>
        <p:nvSpPr>
          <p:cNvPr id="3" name="Text Placeholder 2"/>
          <p:cNvSpPr/>
          <p:nvPr>
            <p:ph idx="101" type="body"/>
          </p:nvPr>
        </p:nvSpPr>
        <p:spPr>
          <a:xfrm>
            <a:off x="812750" y="1854037"/>
            <a:ext cx="10566450" cy="419116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3EE"/>
        </a:solidFill>
      </p:bgPr>
    </p:bg>
    <p:spTree>
      <p:nvGrpSpPr>
        <p:cNvPr id="1" name=""/>
        <p:cNvGrpSpPr/>
        <p:nvPr/>
      </p:nvGrpSpPr>
      <p:grpSpPr>
        <a:xfrm>
          <a:off x="0" y="0"/>
          <a:ext cx="0" cy="0"/>
          <a:chOff x="0" y="0"/>
          <a:chExt cx="0" cy="0"/>
        </a:xfrm>
      </p:grpSpPr>
      <p:pic>
        <p:nvPicPr>
          <p:cNvPr id="2" name="Image 0" descr="Syrian Private University logo">    </p:cNvPr>
          <p:cNvPicPr>
            <a:picLocks noChangeAspect="1"/>
          </p:cNvPicPr>
          <p:nvPr/>
        </p:nvPicPr>
        <p:blipFill>
          <a:blip r:embed="rId1"/>
          <a:srcRect l="-19" r="-19" t="0" b="0"/>
          <a:stretch/>
        </p:blipFill>
        <p:spPr>
          <a:xfrm>
            <a:off x="812750" y="549301"/>
            <a:ext cx="1968473" cy="1168343"/>
          </a:xfrm>
          <a:prstGeom prst="rect">
            <a:avLst/>
          </a:prstGeom>
        </p:spPr>
      </p:pic>
      <p:pic>
        <p:nvPicPr>
          <p:cNvPr id="3" name="Image 1" descr="Faculty of Artificial Intelligence Engineering logo">    </p:cNvPr>
          <p:cNvPicPr>
            <a:picLocks noChangeAspect="1"/>
          </p:cNvPicPr>
          <p:nvPr/>
        </p:nvPicPr>
        <p:blipFill>
          <a:blip r:embed="rId2"/>
          <a:srcRect l="0" r="0" t="-25" b="-25"/>
          <a:stretch/>
        </p:blipFill>
        <p:spPr>
          <a:xfrm>
            <a:off x="9410750" y="507999"/>
            <a:ext cx="1968473" cy="1250946"/>
          </a:xfrm>
          <a:prstGeom prst="rect">
            <a:avLst/>
          </a:prstGeom>
        </p:spPr>
      </p:pic>
      <p:sp>
        <p:nvSpPr>
          <p:cNvPr id="4" name="Text 0"/>
          <p:cNvSpPr/>
          <p:nvPr/>
        </p:nvSpPr>
        <p:spPr>
          <a:xfrm>
            <a:off x="812750" y="245401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Syrian Private University · Faculty of Artificial Intelligence Engineering</a:t>
            </a:r>
            <a:endParaRPr lang="en-US" sz="1400" dirty="0">
              <a:latin typeface="IBM Plex Sans" charset="0"/>
              <a:ea typeface="IBM Plex Sans" charset="0"/>
              <a:cs typeface="IBM Plex Sans" charset="0"/>
            </a:endParaRPr>
          </a:p>
        </p:txBody>
      </p:sp>
      <p:sp>
        <p:nvSpPr>
          <p:cNvPr id="5" name="Text 1"/>
          <p:cNvSpPr/>
          <p:nvPr/>
        </p:nvSpPr>
        <p:spPr>
          <a:xfrm>
            <a:off x="812750" y="2855312"/>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SEMESTER PROJECT SEMINAR</a:t>
            </a:r>
            <a:endParaRPr lang="en-US" sz="1200" dirty="0">
              <a:latin typeface="IBM Plex Sans" charset="0"/>
              <a:ea typeface="IBM Plex Sans" charset="0"/>
              <a:cs typeface="IBM Plex Sans" charset="0"/>
            </a:endParaRPr>
          </a:p>
        </p:txBody>
      </p:sp>
      <p:sp>
        <p:nvSpPr>
          <p:cNvPr id="6" name="Text 2"/>
          <p:cNvSpPr/>
          <p:nvPr>
            <p:ph type="title"/>
          </p:nvPr>
        </p:nvSpPr>
        <p:spPr>
          <a:xfrm>
            <a:off x="812750" y="3220989"/>
            <a:ext cx="10883467" cy="1012897"/>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4213D"/>
                </a:solidFill>
                <a:latin typeface="Space Grotesk" pitchFamily="34" charset="0"/>
                <a:ea typeface="Space Grotesk" pitchFamily="34" charset="-122"/>
                <a:cs typeface="Space Grotesk" pitchFamily="34" charset="-120"/>
              </a:rPr>
              <a:t>Detecting Data Leakage in Cloud Storage with Interpretable Machine Learning</a:t>
            </a:r>
            <a:endParaRPr lang="en-US" sz="3600" dirty="0">
              <a:latin typeface="Space Grotesk" charset="0"/>
              <a:ea typeface="Space Grotesk" charset="0"/>
              <a:cs typeface="Space Grotesk" charset="0"/>
            </a:endParaRPr>
          </a:p>
        </p:txBody>
      </p:sp>
      <p:sp>
        <p:nvSpPr>
          <p:cNvPr id="7" name="Shape 3"/>
          <p:cNvSpPr/>
          <p:nvPr/>
        </p:nvSpPr>
        <p:spPr>
          <a:xfrm>
            <a:off x="812750" y="4909901"/>
            <a:ext cx="10566473" cy="0"/>
          </a:xfrm>
          <a:prstGeom prst="line">
            <a:avLst/>
          </a:prstGeom>
          <a:noFill/>
          <a:ln w="12700">
            <a:solidFill>
              <a:srgbClr val="14213D"/>
            </a:solidFill>
            <a:prstDash val="solid"/>
          </a:ln>
        </p:spPr>
      </p:sp>
      <p:sp>
        <p:nvSpPr>
          <p:cNvPr id="8" name="Text 4"/>
          <p:cNvSpPr/>
          <p:nvPr/>
        </p:nvSpPr>
        <p:spPr>
          <a:xfrm>
            <a:off x="812750" y="5118331"/>
            <a:ext cx="1810843" cy="23873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8"/>
                </a:solidFill>
                <a:latin typeface="IBM Plex Sans" pitchFamily="34" charset="0"/>
                <a:ea typeface="IBM Plex Sans" pitchFamily="34" charset="-122"/>
                <a:cs typeface="IBM Plex Sans" pitchFamily="34" charset="-120"/>
              </a:rPr>
              <a:t>PREPARED BY</a:t>
            </a:r>
            <a:endParaRPr lang="en-US" sz="1200" dirty="0">
              <a:latin typeface="IBM Plex Sans" charset="0"/>
              <a:ea typeface="IBM Plex Sans" charset="0"/>
              <a:cs typeface="IBM Plex Sans" charset="0"/>
            </a:endParaRPr>
          </a:p>
        </p:txBody>
      </p:sp>
      <p:sp>
        <p:nvSpPr>
          <p:cNvPr id="9" name="Text 5"/>
          <p:cNvSpPr/>
          <p:nvPr/>
        </p:nvSpPr>
        <p:spPr>
          <a:xfrm>
            <a:off x="812750" y="5369704"/>
            <a:ext cx="1810843"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Ghaith Jbili</a:t>
            </a:r>
            <a:endParaRPr lang="en-US" sz="1600" dirty="0">
              <a:latin typeface="IBM Plex Sans" charset="0"/>
              <a:ea typeface="IBM Plex Sans" charset="0"/>
              <a:cs typeface="IBM Plex Sans" charset="0"/>
            </a:endParaRPr>
          </a:p>
        </p:txBody>
      </p:sp>
      <p:sp>
        <p:nvSpPr>
          <p:cNvPr id="10" name="Text 6"/>
          <p:cNvSpPr/>
          <p:nvPr/>
        </p:nvSpPr>
        <p:spPr>
          <a:xfrm>
            <a:off x="812750" y="5692208"/>
            <a:ext cx="1810843"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Bayan Awad</a:t>
            </a:r>
            <a:endParaRPr lang="en-US" sz="1600" dirty="0">
              <a:latin typeface="IBM Plex Sans" charset="0"/>
              <a:ea typeface="IBM Plex Sans" charset="0"/>
              <a:cs typeface="IBM Plex Sans" charset="0"/>
            </a:endParaRPr>
          </a:p>
        </p:txBody>
      </p:sp>
      <p:sp>
        <p:nvSpPr>
          <p:cNvPr id="11" name="Text 7"/>
          <p:cNvSpPr/>
          <p:nvPr/>
        </p:nvSpPr>
        <p:spPr>
          <a:xfrm>
            <a:off x="812750" y="6014711"/>
            <a:ext cx="2109720"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Mohammed Ghazal</a:t>
            </a:r>
            <a:endParaRPr lang="en-US" sz="1600" dirty="0">
              <a:latin typeface="IBM Plex Sans" charset="0"/>
              <a:ea typeface="IBM Plex Sans" charset="0"/>
              <a:cs typeface="IBM Plex Sans" charset="0"/>
            </a:endParaRPr>
          </a:p>
        </p:txBody>
      </p:sp>
      <p:sp>
        <p:nvSpPr>
          <p:cNvPr id="12" name="Text 8"/>
          <p:cNvSpPr/>
          <p:nvPr/>
        </p:nvSpPr>
        <p:spPr>
          <a:xfrm>
            <a:off x="3332818" y="5440835"/>
            <a:ext cx="1897230" cy="23873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8"/>
                </a:solidFill>
                <a:latin typeface="IBM Plex Sans" pitchFamily="34" charset="0"/>
                <a:ea typeface="IBM Plex Sans" pitchFamily="34" charset="-122"/>
                <a:cs typeface="IBM Plex Sans" pitchFamily="34" charset="-120"/>
              </a:rPr>
              <a:t>SUPERVISED BY</a:t>
            </a:r>
            <a:endParaRPr lang="en-US" sz="1200" dirty="0">
              <a:latin typeface="IBM Plex Sans" charset="0"/>
              <a:ea typeface="IBM Plex Sans" charset="0"/>
              <a:cs typeface="IBM Plex Sans" charset="0"/>
            </a:endParaRPr>
          </a:p>
        </p:txBody>
      </p:sp>
      <p:sp>
        <p:nvSpPr>
          <p:cNvPr id="13" name="Text 9"/>
          <p:cNvSpPr/>
          <p:nvPr/>
        </p:nvSpPr>
        <p:spPr>
          <a:xfrm>
            <a:off x="3332818" y="5692208"/>
            <a:ext cx="1897230"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Dr. Wassim Janeidi</a:t>
            </a:r>
            <a:endParaRPr lang="en-US" sz="1600" dirty="0">
              <a:latin typeface="IBM Plex Sans" charset="0"/>
              <a:ea typeface="IBM Plex Sans" charset="0"/>
              <a:cs typeface="IBM Plex Sans" charset="0"/>
            </a:endParaRPr>
          </a:p>
        </p:txBody>
      </p:sp>
      <p:sp>
        <p:nvSpPr>
          <p:cNvPr id="14" name="Text 10"/>
          <p:cNvSpPr/>
          <p:nvPr/>
        </p:nvSpPr>
        <p:spPr>
          <a:xfrm>
            <a:off x="3332818" y="6014711"/>
            <a:ext cx="2210366"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Eng. Jaafar Mahfouz</a:t>
            </a:r>
            <a:endParaRPr lang="en-US" sz="1600" dirty="0">
              <a:latin typeface="IBM Plex Sans" charset="0"/>
              <a:ea typeface="IBM Plex Sans" charset="0"/>
              <a:cs typeface="IBM Plex Sans" charset="0"/>
            </a:endParaRPr>
          </a:p>
        </p:txBody>
      </p:sp>
      <p:sp>
        <p:nvSpPr>
          <p:cNvPr id="15" name="Text 11"/>
          <p:cNvSpPr/>
          <p:nvPr/>
        </p:nvSpPr>
        <p:spPr>
          <a:xfrm>
            <a:off x="8758376" y="6050216"/>
            <a:ext cx="2620847" cy="27435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Academic Year 2026–2027</a:t>
            </a:r>
            <a:endParaRPr lang="en-US" sz="1400" dirty="0">
              <a:latin typeface="IBM Plex Sans" charset="0"/>
              <a:ea typeface="IBM Plex Sans" charset="0"/>
              <a:cs typeface="IBM Plex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00 · OVERVIEW</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4"/>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Research paper comparison</a:t>
            </a:r>
            <a:endParaRPr lang="en-US" sz="3200" dirty="0">
              <a:latin typeface="Space Grotesk" charset="0"/>
              <a:ea typeface="Space Grotesk" charset="0"/>
              <a:cs typeface="Space Grotesk"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1865581"/>
          <a:ext cx="10554879" cy="2374184"/>
        </p:xfrm>
        <a:graphic>
          <a:graphicData uri="http://schemas.openxmlformats.org/drawingml/2006/table">
            <a:tbl>
              <a:tblPr/>
              <a:tblGrid>
                <a:gridCol w="1794330"/>
                <a:gridCol w="2110976"/>
                <a:gridCol w="2110976"/>
                <a:gridCol w="2005427"/>
                <a:gridCol w="2533171"/>
              </a:tblGrid>
              <a:tr h="316344">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Study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Main 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Link to our project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5144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Harahap &amp; Hasibuan (2025), JISI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B4BCC5"/>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B4BCC5"/>
                      </a:solidFill>
                      <a:prstDash val="solid"/>
                      <a:round/>
                      <a:headEnd type="none" w="med" len="med"/>
                      <a:tailEnd type="none" w="med" len="med"/>
                    </a:lnB>
                    <a:solidFill>
                      <a:srgbClr val="E1EBF7"/>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Kaggle cloud-storage logs: 49,498 events, 9 attributes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CC5"/>
                      </a:solidFill>
                      <a:prstDash val="solid"/>
                      <a:round/>
                      <a:headEnd type="none" w="med" len="med"/>
                      <a:tailEnd type="none" w="med" len="med"/>
                    </a:lnL>
                    <a:lnR w="12700" cap="flat" cmpd="sng" algn="ctr">
                      <a:solidFill>
                        <a:srgbClr val="B4BCC5"/>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B4BCC5"/>
                      </a:solidFill>
                      <a:prstDash val="solid"/>
                      <a:round/>
                      <a:headEnd type="none" w="med" len="med"/>
                      <a:tailEnd type="none" w="med" len="med"/>
                    </a:lnB>
                    <a:solidFill>
                      <a:srgbClr val="E1EBF7"/>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Decision tree, depth 3; no imbalance handling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CC5"/>
                      </a:solidFill>
                      <a:prstDash val="solid"/>
                      <a:round/>
                      <a:headEnd type="none" w="med" len="med"/>
                      <a:tailEnd type="none" w="med" len="med"/>
                    </a:lnL>
                    <a:lnR w="12700" cap="flat" cmpd="sng" algn="ctr">
                      <a:solidFill>
                        <a:srgbClr val="B4BCC5"/>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B4BCC5"/>
                      </a:solidFill>
                      <a:prstDash val="solid"/>
                      <a:round/>
                      <a:headEnd type="none" w="med" len="med"/>
                      <a:tailEnd type="none" w="med" len="med"/>
                    </a:lnB>
                    <a:solidFill>
                      <a:srgbClr val="E1EBF7"/>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Accuracy 0.708, leakage recall 0.315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CC5"/>
                      </a:solidFill>
                      <a:prstDash val="solid"/>
                      <a:round/>
                      <a:headEnd type="none" w="med" len="med"/>
                      <a:tailEnd type="none" w="med" len="med"/>
                    </a:lnL>
                    <a:lnR w="12700" cap="flat" cmpd="sng" algn="ctr">
                      <a:solidFill>
                        <a:srgbClr val="B4BCC5"/>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B4BCC5"/>
                      </a:solidFill>
                      <a:prstDash val="solid"/>
                      <a:round/>
                      <a:headEnd type="none" w="med" len="med"/>
                      <a:tailEnd type="none" w="med" len="med"/>
                    </a:lnB>
                    <a:solidFill>
                      <a:srgbClr val="E1EBF7"/>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Our baseline: barely beats always “normal” (0.689)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CC5"/>
                      </a:solidFill>
                      <a:prstDash val="solid"/>
                      <a:round/>
                      <a:headEnd type="none" w="med" len="med"/>
                      <a:tailEnd type="none" w="med" len="med"/>
                    </a:lnL>
                    <a:lnR w="12700" cap="flat" cmpd="sng" algn="ctr">
                      <a:solidFill>
                        <a:srgbClr val="B4BCC5"/>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B4BCC5"/>
                      </a:solidFill>
                      <a:prstDash val="solid"/>
                      <a:round/>
                      <a:headEnd type="none" w="med" len="med"/>
                      <a:tailEnd type="none" w="med" len="med"/>
                    </a:lnB>
                    <a:solidFill>
                      <a:srgbClr val="E1EBF7"/>
                    </a:solidFill>
                  </a:tcPr>
                </a:tc>
              </a:tr>
              <a:tr h="5144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Apicella et al. (2025), AI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4BC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Survey, no dataset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4BC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Taxonomy of ML data leakage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4BC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Checklist of safe practices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4BC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Used to design our leakage-safe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4BC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144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Hakim et al. (2025), IEEE 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Threat reports, 10 ATT&amp;CK tactics; 93:7 imbalance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RF, SVM, LR, XGBoost, NB; SMOTE+ENN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RF best, CV accuracy &gt; 0.99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Resampling before CV may inflate scores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144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Komka et al. (2026), NJESTI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CERT v6.2 + 4 injected cloud attacks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Isolation Forest, One-Class SVM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Weighted F1: IF 0.92, OCSVM 0.81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Same threat; injected attacks make scores optimistic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750" y="6238248"/>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6" name="Text 3"/>
          <p:cNvSpPr/>
          <p:nvPr/>
        </p:nvSpPr>
        <p:spPr>
          <a:xfrm>
            <a:off x="10566454" y="6238248"/>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02</a:t>
            </a:r>
            <a:endParaRPr lang="en-US" sz="1200" dirty="0">
              <a:latin typeface="IBM Plex Sans" charset="0"/>
              <a:ea typeface="IBM Plex Sans" charset="0"/>
              <a:cs typeface="IBM Plex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00 · OVERVIEW</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4"/>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What we did vs the paper</a:t>
            </a:r>
            <a:endParaRPr lang="en-US" sz="3200" dirty="0">
              <a:latin typeface="Space Grotesk" charset="0"/>
              <a:ea typeface="Space Grotesk" charset="0"/>
              <a:cs typeface="Space Grotesk"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1865581"/>
          <a:ext cx="10554879" cy="2808757"/>
        </p:xfrm>
        <a:graphic>
          <a:graphicData uri="http://schemas.openxmlformats.org/drawingml/2006/table">
            <a:tbl>
              <a:tblPr/>
              <a:tblGrid>
                <a:gridCol w="1688781"/>
                <a:gridCol w="3377561"/>
                <a:gridCol w="5488537"/>
              </a:tblGrid>
              <a:tr h="316344">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Harahap &amp; Hasibuan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Our 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5144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Decision tree (entropy, maximum depth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Tuned decision tree; XGBoost gained only +0.013 PR-AUC, so we kept the readable tree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6344">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Attributes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Nine attributes, one-hot encoded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Same nine plus external destination and hour (+0.122 PR-AUC)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144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Class imbalance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Not addressed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Class weights (a missed leak counts about 2.2× more); SMOTEN and random over- and undersampling scored lower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144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Alert threshold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Default 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θ* = 0.416: the most precise threshold that still catches at least 80% of leaks, set on training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6344">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Evaluation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Accuracy and recall reported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Stratified 80:20 split before any fitting, leakage-safe 5-fold CV, one final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6344">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Explanation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tree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rule behind every alert, plus attribute importance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6" name="Text 3"/>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03</a:t>
            </a:r>
            <a:endParaRPr lang="en-US" sz="1200" dirty="0">
              <a:latin typeface="IBM Plex Sans" charset="0"/>
              <a:ea typeface="IBM Plex Sans" charset="0"/>
              <a:cs typeface="IBM Plex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49"/>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01 · THE PROBLEM</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4"/>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Data leaves through people who have access</a:t>
            </a:r>
            <a:endParaRPr lang="en-US" sz="3200" dirty="0">
              <a:latin typeface="Space Grotesk" charset="0"/>
              <a:ea typeface="Space Grotesk" charset="0"/>
              <a:cs typeface="Space Grotesk" charset="0"/>
            </a:endParaRPr>
          </a:p>
        </p:txBody>
      </p:sp>
      <p:sp>
        <p:nvSpPr>
          <p:cNvPr id="4" name="Shape 2"/>
          <p:cNvSpPr/>
          <p:nvPr/>
        </p:nvSpPr>
        <p:spPr>
          <a:xfrm>
            <a:off x="815925" y="1908004"/>
            <a:ext cx="3380329" cy="2414389"/>
          </a:xfrm>
          <a:prstGeom prst="roundRect">
            <a:avLst>
              <a:gd name="adj" fmla="val 4077"/>
            </a:avLst>
          </a:prstGeom>
          <a:solidFill>
            <a:srgbClr val="FCFBF8"/>
          </a:solidFill>
          <a:ln w="6350">
            <a:solidFill>
              <a:srgbClr val="E2DED4"/>
            </a:solidFill>
            <a:prstDash val="solid"/>
          </a:ln>
        </p:spPr>
      </p:sp>
      <p:pic>
        <p:nvPicPr>
          <p:cNvPr id="5" name="Image 0" descr="Users">    </p:cNvPr>
          <p:cNvPicPr>
            <a:picLocks noChangeAspect="1"/>
          </p:cNvPicPr>
          <p:nvPr/>
        </p:nvPicPr>
        <p:blipFill>
          <a:blip r:embed="rId1"/>
          <a:srcRect l="0" r="0" t="0" b="0"/>
          <a:stretch/>
        </p:blipFill>
        <p:spPr>
          <a:xfrm>
            <a:off x="1070584" y="2162663"/>
            <a:ext cx="355593" cy="355593"/>
          </a:xfrm>
          <a:prstGeom prst="rect">
            <a:avLst/>
          </a:prstGeom>
        </p:spPr>
      </p:pic>
      <p:sp>
        <p:nvSpPr>
          <p:cNvPr id="6" name="Text 3"/>
          <p:cNvSpPr/>
          <p:nvPr/>
        </p:nvSpPr>
        <p:spPr>
          <a:xfrm>
            <a:off x="1070584" y="2645240"/>
            <a:ext cx="2957142" cy="57403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Insiders and stolen accounts</a:t>
            </a:r>
            <a:endParaRPr lang="en-US" sz="1800" dirty="0">
              <a:latin typeface="Space Grotesk" charset="0"/>
              <a:ea typeface="Space Grotesk" charset="0"/>
              <a:cs typeface="Space Grotesk" charset="0"/>
            </a:endParaRPr>
          </a:p>
        </p:txBody>
      </p:sp>
      <p:sp>
        <p:nvSpPr>
          <p:cNvPr id="7" name="Text 4"/>
          <p:cNvSpPr/>
          <p:nvPr/>
        </p:nvSpPr>
        <p:spPr>
          <a:xfrm>
            <a:off x="1070584" y="3320862"/>
            <a:ext cx="2957142"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A valid login can open and send confidential files, so nothing looks wrong at the network edge.</a:t>
            </a:r>
            <a:endParaRPr lang="en-US" sz="1400" dirty="0">
              <a:latin typeface="IBM Plex Sans" charset="0"/>
              <a:ea typeface="IBM Plex Sans" charset="0"/>
              <a:cs typeface="IBM Plex Sans" charset="0"/>
            </a:endParaRPr>
          </a:p>
        </p:txBody>
      </p:sp>
      <p:sp>
        <p:nvSpPr>
          <p:cNvPr id="8" name="Shape 5"/>
          <p:cNvSpPr/>
          <p:nvPr/>
        </p:nvSpPr>
        <p:spPr>
          <a:xfrm>
            <a:off x="4405792" y="1908004"/>
            <a:ext cx="3380389" cy="2414389"/>
          </a:xfrm>
          <a:prstGeom prst="roundRect">
            <a:avLst>
              <a:gd name="adj" fmla="val 4077"/>
            </a:avLst>
          </a:prstGeom>
          <a:solidFill>
            <a:srgbClr val="FCFBF8"/>
          </a:solidFill>
          <a:ln w="6350">
            <a:solidFill>
              <a:srgbClr val="E2DED4"/>
            </a:solidFill>
            <a:prstDash val="solid"/>
          </a:ln>
        </p:spPr>
      </p:sp>
      <p:pic>
        <p:nvPicPr>
          <p:cNvPr id="9" name="Image 1" descr="Cloud">    </p:cNvPr>
          <p:cNvPicPr>
            <a:picLocks noChangeAspect="1"/>
          </p:cNvPicPr>
          <p:nvPr/>
        </p:nvPicPr>
        <p:blipFill>
          <a:blip r:embed="rId2"/>
          <a:srcRect l="0" r="0" t="0" b="0"/>
          <a:stretch/>
        </p:blipFill>
        <p:spPr>
          <a:xfrm>
            <a:off x="4660450" y="2162663"/>
            <a:ext cx="355593" cy="355593"/>
          </a:xfrm>
          <a:prstGeom prst="rect">
            <a:avLst/>
          </a:prstGeom>
        </p:spPr>
      </p:pic>
      <p:sp>
        <p:nvSpPr>
          <p:cNvPr id="10" name="Text 6"/>
          <p:cNvSpPr/>
          <p:nvPr/>
        </p:nvSpPr>
        <p:spPr>
          <a:xfrm>
            <a:off x="4660450" y="2645240"/>
            <a:ext cx="2957204"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Every action is logged</a:t>
            </a:r>
            <a:endParaRPr lang="en-US" sz="1800" dirty="0">
              <a:latin typeface="Space Grotesk" charset="0"/>
              <a:ea typeface="Space Grotesk" charset="0"/>
              <a:cs typeface="Space Grotesk" charset="0"/>
            </a:endParaRPr>
          </a:p>
        </p:txBody>
      </p:sp>
      <p:sp>
        <p:nvSpPr>
          <p:cNvPr id="11" name="Text 7"/>
          <p:cNvSpPr/>
          <p:nvPr/>
        </p:nvSpPr>
        <p:spPr>
          <a:xfrm>
            <a:off x="4660450" y="3046544"/>
            <a:ext cx="2957204"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Cloud storage records who touched which file, when, and where it was sent.</a:t>
            </a:r>
            <a:endParaRPr lang="en-US" sz="1400" dirty="0">
              <a:latin typeface="IBM Plex Sans" charset="0"/>
              <a:ea typeface="IBM Plex Sans" charset="0"/>
              <a:cs typeface="IBM Plex Sans" charset="0"/>
            </a:endParaRPr>
          </a:p>
        </p:txBody>
      </p:sp>
      <p:sp>
        <p:nvSpPr>
          <p:cNvPr id="12" name="Shape 8"/>
          <p:cNvSpPr/>
          <p:nvPr/>
        </p:nvSpPr>
        <p:spPr>
          <a:xfrm>
            <a:off x="7995719" y="1908004"/>
            <a:ext cx="3380329" cy="2414389"/>
          </a:xfrm>
          <a:prstGeom prst="roundRect">
            <a:avLst>
              <a:gd name="adj" fmla="val 4077"/>
            </a:avLst>
          </a:prstGeom>
          <a:solidFill>
            <a:srgbClr val="FCFBF8"/>
          </a:solidFill>
          <a:ln w="6350">
            <a:solidFill>
              <a:srgbClr val="E2DED4"/>
            </a:solidFill>
            <a:prstDash val="solid"/>
          </a:ln>
        </p:spPr>
      </p:sp>
      <p:pic>
        <p:nvPicPr>
          <p:cNvPr id="13" name="Image 2" descr="Warning">    </p:cNvPr>
          <p:cNvPicPr>
            <a:picLocks noChangeAspect="1"/>
          </p:cNvPicPr>
          <p:nvPr/>
        </p:nvPicPr>
        <p:blipFill>
          <a:blip r:embed="rId3"/>
          <a:srcRect l="0" r="0" t="0" b="0"/>
          <a:stretch/>
        </p:blipFill>
        <p:spPr>
          <a:xfrm>
            <a:off x="8250377" y="2162663"/>
            <a:ext cx="355593" cy="355593"/>
          </a:xfrm>
          <a:prstGeom prst="rect">
            <a:avLst/>
          </a:prstGeom>
        </p:spPr>
      </p:pic>
      <p:sp>
        <p:nvSpPr>
          <p:cNvPr id="14" name="Text 9"/>
          <p:cNvSpPr/>
          <p:nvPr/>
        </p:nvSpPr>
        <p:spPr>
          <a:xfrm>
            <a:off x="8250377" y="2645240"/>
            <a:ext cx="2957142"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Fixed rules fall short</a:t>
            </a:r>
            <a:endParaRPr lang="en-US" sz="1800" dirty="0">
              <a:latin typeface="Space Grotesk" charset="0"/>
              <a:ea typeface="Space Grotesk" charset="0"/>
              <a:cs typeface="Space Grotesk" charset="0"/>
            </a:endParaRPr>
          </a:p>
        </p:txBody>
      </p:sp>
      <p:sp>
        <p:nvSpPr>
          <p:cNvPr id="15" name="Text 10"/>
          <p:cNvSpPr/>
          <p:nvPr/>
        </p:nvSpPr>
        <p:spPr>
          <a:xfrm>
            <a:off x="8250377" y="3046544"/>
            <a:ext cx="2957142"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Rule-based DLP raises many false alarms and misses patterns nobody wrote a rule for.</a:t>
            </a:r>
            <a:endParaRPr lang="en-US" sz="1400" dirty="0">
              <a:latin typeface="IBM Plex Sans" charset="0"/>
              <a:ea typeface="IBM Plex Sans" charset="0"/>
              <a:cs typeface="IBM Plex Sans" charset="0"/>
            </a:endParaRPr>
          </a:p>
        </p:txBody>
      </p:sp>
      <p:sp>
        <p:nvSpPr>
          <p:cNvPr id="16" name="Text 11"/>
          <p:cNvSpPr/>
          <p:nvPr/>
        </p:nvSpPr>
        <p:spPr>
          <a:xfrm>
            <a:off x="812750" y="4681161"/>
            <a:ext cx="10883467" cy="619686"/>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Our goal: learn leakage patterns from the logs with a decision tree an analyst can read, and measure it honestly.</a:t>
            </a:r>
            <a:endParaRPr lang="en-US" sz="1800" dirty="0">
              <a:latin typeface="IBM Plex Sans" charset="0"/>
              <a:ea typeface="IBM Plex Sans" charset="0"/>
              <a:cs typeface="IBM Plex Sans" charset="0"/>
            </a:endParaRPr>
          </a:p>
        </p:txBody>
      </p:sp>
      <p:sp>
        <p:nvSpPr>
          <p:cNvPr id="17" name="Text 12"/>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18" name="Text 13"/>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04</a:t>
            </a:r>
            <a:endParaRPr lang="en-US" sz="1200" dirty="0">
              <a:latin typeface="IBM Plex Sans" charset="0"/>
              <a:ea typeface="IBM Plex Sans" charset="0"/>
              <a:cs typeface="IBM Plex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02 · THE BASE ARTICLE</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4"/>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Harahap &amp; Hasibuan (2025) and its data</a:t>
            </a:r>
            <a:endParaRPr lang="en-US" sz="3200" dirty="0">
              <a:latin typeface="Space Grotesk" charset="0"/>
              <a:ea typeface="Space Grotesk" charset="0"/>
              <a:cs typeface="Space Grotesk" charset="0"/>
            </a:endParaRPr>
          </a:p>
        </p:txBody>
      </p:sp>
      <p:sp>
        <p:nvSpPr>
          <p:cNvPr id="4" name="Shape 2"/>
          <p:cNvSpPr/>
          <p:nvPr/>
        </p:nvSpPr>
        <p:spPr>
          <a:xfrm>
            <a:off x="812750" y="1911179"/>
            <a:ext cx="5386249" cy="0"/>
          </a:xfrm>
          <a:prstGeom prst="line">
            <a:avLst/>
          </a:prstGeom>
          <a:noFill/>
          <a:ln w="12700">
            <a:solidFill>
              <a:srgbClr val="D9D4C7"/>
            </a:solidFill>
            <a:prstDash val="solid"/>
          </a:ln>
        </p:spPr>
      </p:sp>
      <p:sp>
        <p:nvSpPr>
          <p:cNvPr id="5" name="Text 3"/>
          <p:cNvSpPr/>
          <p:nvPr/>
        </p:nvSpPr>
        <p:spPr>
          <a:xfrm>
            <a:off x="812750" y="2065449"/>
            <a:ext cx="1130260" cy="23873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8"/>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p:txBody>
      </p:sp>
      <p:sp>
        <p:nvSpPr>
          <p:cNvPr id="6" name="Text 4"/>
          <p:cNvSpPr/>
          <p:nvPr/>
        </p:nvSpPr>
        <p:spPr>
          <a:xfrm>
            <a:off x="2069976" y="2030667"/>
            <a:ext cx="4252893" cy="28257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Decision tree (entropy, maximum depth 3)</a:t>
            </a:r>
            <a:endParaRPr lang="en-US" sz="1500" dirty="0">
              <a:latin typeface="IBM Plex Sans" charset="0"/>
              <a:ea typeface="IBM Plex Sans" charset="0"/>
              <a:cs typeface="IBM Plex Sans" charset="0"/>
            </a:endParaRPr>
          </a:p>
        </p:txBody>
      </p:sp>
      <p:sp>
        <p:nvSpPr>
          <p:cNvPr id="7" name="Shape 5"/>
          <p:cNvSpPr/>
          <p:nvPr/>
        </p:nvSpPr>
        <p:spPr>
          <a:xfrm>
            <a:off x="812750" y="2446533"/>
            <a:ext cx="5386249" cy="0"/>
          </a:xfrm>
          <a:prstGeom prst="line">
            <a:avLst/>
          </a:prstGeom>
          <a:noFill/>
          <a:ln w="12700">
            <a:solidFill>
              <a:srgbClr val="D9D4C7"/>
            </a:solidFill>
            <a:prstDash val="solid"/>
          </a:ln>
        </p:spPr>
      </p:sp>
      <p:sp>
        <p:nvSpPr>
          <p:cNvPr id="8" name="Text 6"/>
          <p:cNvSpPr/>
          <p:nvPr/>
        </p:nvSpPr>
        <p:spPr>
          <a:xfrm>
            <a:off x="812750" y="2600799"/>
            <a:ext cx="1130260" cy="23873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8"/>
                </a:solidFill>
                <a:latin typeface="IBM Plex Sans" pitchFamily="34" charset="0"/>
                <a:ea typeface="IBM Plex Sans" pitchFamily="34" charset="-122"/>
                <a:cs typeface="IBM Plex Sans" pitchFamily="34" charset="-120"/>
              </a:rPr>
              <a:t>INPUT</a:t>
            </a:r>
            <a:endParaRPr lang="en-US" sz="1200" dirty="0">
              <a:latin typeface="IBM Plex Sans" charset="0"/>
              <a:ea typeface="IBM Plex Sans" charset="0"/>
              <a:cs typeface="IBM Plex Sans" charset="0"/>
            </a:endParaRPr>
          </a:p>
        </p:txBody>
      </p:sp>
      <p:sp>
        <p:nvSpPr>
          <p:cNvPr id="9" name="Text 7"/>
          <p:cNvSpPr/>
          <p:nvPr/>
        </p:nvSpPr>
        <p:spPr>
          <a:xfrm>
            <a:off x="2069976" y="2566020"/>
            <a:ext cx="4252893" cy="28257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Nine attributes, one-hot encoding (as stated)</a:t>
            </a:r>
            <a:endParaRPr lang="en-US" sz="1500" dirty="0">
              <a:latin typeface="IBM Plex Sans" charset="0"/>
              <a:ea typeface="IBM Plex Sans" charset="0"/>
              <a:cs typeface="IBM Plex Sans" charset="0"/>
            </a:endParaRPr>
          </a:p>
        </p:txBody>
      </p:sp>
      <p:sp>
        <p:nvSpPr>
          <p:cNvPr id="10" name="Shape 8"/>
          <p:cNvSpPr/>
          <p:nvPr/>
        </p:nvSpPr>
        <p:spPr>
          <a:xfrm>
            <a:off x="812750" y="2981883"/>
            <a:ext cx="5386249" cy="0"/>
          </a:xfrm>
          <a:prstGeom prst="line">
            <a:avLst/>
          </a:prstGeom>
          <a:noFill/>
          <a:ln w="12700">
            <a:solidFill>
              <a:srgbClr val="D9D4C7"/>
            </a:solidFill>
            <a:prstDash val="solid"/>
          </a:ln>
        </p:spPr>
      </p:sp>
      <p:sp>
        <p:nvSpPr>
          <p:cNvPr id="11" name="Text 9"/>
          <p:cNvSpPr/>
          <p:nvPr/>
        </p:nvSpPr>
        <p:spPr>
          <a:xfrm>
            <a:off x="812750" y="3112967"/>
            <a:ext cx="1130260" cy="23873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A8"/>
                </a:solidFill>
                <a:latin typeface="IBM Plex Sans" pitchFamily="34" charset="0"/>
                <a:ea typeface="IBM Plex Sans" pitchFamily="34" charset="-122"/>
                <a:cs typeface="IBM Plex Sans" pitchFamily="34" charset="-120"/>
              </a:rPr>
              <a:t>SOURCE</a:t>
            </a:r>
            <a:endParaRPr lang="en-US" sz="1200" dirty="0">
              <a:latin typeface="IBM Plex Sans" charset="0"/>
              <a:ea typeface="IBM Plex Sans" charset="0"/>
              <a:cs typeface="IBM Plex Sans" charset="0"/>
            </a:endParaRPr>
          </a:p>
        </p:txBody>
      </p:sp>
      <p:sp>
        <p:nvSpPr>
          <p:cNvPr id="12" name="Text 10"/>
          <p:cNvSpPr/>
          <p:nvPr/>
        </p:nvSpPr>
        <p:spPr>
          <a:xfrm>
            <a:off x="2069976" y="3101370"/>
            <a:ext cx="4252893"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“Detecting Data Leakage in Cloud Storage Using Decision Tree Classification”, JISI, 2025</a:t>
            </a:r>
            <a:endParaRPr lang="en-US" sz="1300" dirty="0">
              <a:latin typeface="IBM Plex Sans" charset="0"/>
              <a:ea typeface="IBM Plex Sans" charset="0"/>
              <a:cs typeface="IBM Plex Sans" charset="0"/>
            </a:endParaRPr>
          </a:p>
        </p:txBody>
      </p:sp>
      <p:sp>
        <p:nvSpPr>
          <p:cNvPr id="13" name="Shape 11"/>
          <p:cNvSpPr/>
          <p:nvPr/>
        </p:nvSpPr>
        <p:spPr>
          <a:xfrm>
            <a:off x="812750" y="3715885"/>
            <a:ext cx="2616922" cy="1132657"/>
          </a:xfrm>
          <a:prstGeom prst="roundRect">
            <a:avLst>
              <a:gd name="adj" fmla="val 8970"/>
            </a:avLst>
          </a:prstGeom>
          <a:solidFill>
            <a:srgbClr val="14213D"/>
          </a:solidFill>
          <a:ln/>
        </p:spPr>
      </p:sp>
      <p:sp>
        <p:nvSpPr>
          <p:cNvPr id="14" name="Text 12"/>
          <p:cNvSpPr/>
          <p:nvPr/>
        </p:nvSpPr>
        <p:spPr>
          <a:xfrm>
            <a:off x="1015937" y="3893651"/>
            <a:ext cx="2276863" cy="533399"/>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5F3EE"/>
                </a:solidFill>
                <a:latin typeface="Space Grotesk" pitchFamily="34" charset="0"/>
                <a:ea typeface="Space Grotesk" pitchFamily="34" charset="-122"/>
                <a:cs typeface="Space Grotesk" pitchFamily="34" charset="-120"/>
              </a:rPr>
              <a:t>70.8%</a:t>
            </a:r>
            <a:endParaRPr lang="en-US" sz="4000" dirty="0">
              <a:latin typeface="Space Grotesk" charset="0"/>
              <a:ea typeface="Space Grotesk" charset="0"/>
              <a:cs typeface="Space Grotesk" charset="0"/>
            </a:endParaRPr>
          </a:p>
        </p:txBody>
      </p:sp>
      <p:sp>
        <p:nvSpPr>
          <p:cNvPr id="15" name="Text 13"/>
          <p:cNvSpPr/>
          <p:nvPr/>
        </p:nvSpPr>
        <p:spPr>
          <a:xfrm>
            <a:off x="1015937" y="4439692"/>
            <a:ext cx="2276863"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accuracy (reported)</a:t>
            </a:r>
            <a:endParaRPr lang="en-US" sz="1300" dirty="0">
              <a:latin typeface="IBM Plex Sans" charset="0"/>
              <a:ea typeface="IBM Plex Sans" charset="0"/>
              <a:cs typeface="IBM Plex Sans" charset="0"/>
            </a:endParaRPr>
          </a:p>
        </p:txBody>
      </p:sp>
      <p:sp>
        <p:nvSpPr>
          <p:cNvPr id="16" name="Shape 14"/>
          <p:cNvSpPr/>
          <p:nvPr/>
        </p:nvSpPr>
        <p:spPr>
          <a:xfrm>
            <a:off x="3582017" y="3715885"/>
            <a:ext cx="2616982" cy="1132657"/>
          </a:xfrm>
          <a:prstGeom prst="roundRect">
            <a:avLst>
              <a:gd name="adj" fmla="val 8970"/>
            </a:avLst>
          </a:prstGeom>
          <a:solidFill>
            <a:srgbClr val="14213D"/>
          </a:solidFill>
          <a:ln/>
        </p:spPr>
      </p:sp>
      <p:sp>
        <p:nvSpPr>
          <p:cNvPr id="17" name="Text 15"/>
          <p:cNvSpPr/>
          <p:nvPr/>
        </p:nvSpPr>
        <p:spPr>
          <a:xfrm>
            <a:off x="3785204" y="3893651"/>
            <a:ext cx="2276925" cy="533399"/>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0A060"/>
                </a:solidFill>
                <a:latin typeface="Space Grotesk" pitchFamily="34" charset="0"/>
                <a:ea typeface="Space Grotesk" pitchFamily="34" charset="-122"/>
                <a:cs typeface="Space Grotesk" pitchFamily="34" charset="-120"/>
              </a:rPr>
              <a:t>31.5%</a:t>
            </a:r>
            <a:endParaRPr lang="en-US" sz="4000" dirty="0">
              <a:latin typeface="Space Grotesk" charset="0"/>
              <a:ea typeface="Space Grotesk" charset="0"/>
              <a:cs typeface="Space Grotesk" charset="0"/>
            </a:endParaRPr>
          </a:p>
        </p:txBody>
      </p:sp>
      <p:sp>
        <p:nvSpPr>
          <p:cNvPr id="18" name="Text 16"/>
          <p:cNvSpPr/>
          <p:nvPr/>
        </p:nvSpPr>
        <p:spPr>
          <a:xfrm>
            <a:off x="3785204" y="4439692"/>
            <a:ext cx="2276925"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leakage recall (reported)</a:t>
            </a:r>
            <a:endParaRPr lang="en-US" sz="1300" dirty="0">
              <a:latin typeface="IBM Plex Sans" charset="0"/>
              <a:ea typeface="IBM Plex Sans" charset="0"/>
              <a:cs typeface="IBM Plex Sans" charset="0"/>
            </a:endParaRPr>
          </a:p>
        </p:txBody>
      </p:sp>
      <p:sp>
        <p:nvSpPr>
          <p:cNvPr id="19" name="Shape 17"/>
          <p:cNvSpPr/>
          <p:nvPr/>
        </p:nvSpPr>
        <p:spPr>
          <a:xfrm>
            <a:off x="6557767" y="1908004"/>
            <a:ext cx="4818281" cy="2937362"/>
          </a:xfrm>
          <a:prstGeom prst="roundRect">
            <a:avLst>
              <a:gd name="adj" fmla="val 3351"/>
            </a:avLst>
          </a:prstGeom>
          <a:solidFill>
            <a:srgbClr val="FCFBF8"/>
          </a:solidFill>
          <a:ln w="6350">
            <a:solidFill>
              <a:srgbClr val="E2DED4"/>
            </a:solidFill>
            <a:prstDash val="solid"/>
          </a:ln>
        </p:spPr>
      </p:sp>
      <p:sp>
        <p:nvSpPr>
          <p:cNvPr id="20" name="Text 18"/>
          <p:cNvSpPr/>
          <p:nvPr/>
        </p:nvSpPr>
        <p:spPr>
          <a:xfrm>
            <a:off x="6812426" y="2137243"/>
            <a:ext cx="4438232"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Kaggle “Data Leakage Detection”</a:t>
            </a:r>
            <a:endParaRPr lang="en-US" sz="1600" dirty="0">
              <a:latin typeface="Space Grotesk" charset="0"/>
              <a:ea typeface="Space Grotesk" charset="0"/>
              <a:cs typeface="Space Grotesk" charset="0"/>
            </a:endParaRPr>
          </a:p>
        </p:txBody>
      </p:sp>
      <p:sp>
        <p:nvSpPr>
          <p:cNvPr id="21" name="Text 19"/>
          <p:cNvSpPr/>
          <p:nvPr/>
        </p:nvSpPr>
        <p:spPr>
          <a:xfrm>
            <a:off x="6812426" y="2508052"/>
            <a:ext cx="4438232" cy="416498"/>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Space Grotesk" pitchFamily="34" charset="0"/>
                <a:ea typeface="Space Grotesk" pitchFamily="34" charset="-122"/>
                <a:cs typeface="Space Grotesk" pitchFamily="34" charset="-120"/>
              </a:rPr>
              <a:t>49,500</a:t>
            </a:r>
            <a:endParaRPr lang="en-US" sz="2800" dirty="0">
              <a:latin typeface="Space Grotesk" charset="0"/>
              <a:ea typeface="Space Grotesk" charset="0"/>
              <a:cs typeface="Space Grotesk" charset="0"/>
            </a:endParaRPr>
          </a:p>
        </p:txBody>
      </p:sp>
      <p:sp>
        <p:nvSpPr>
          <p:cNvPr id="22" name="Text 20"/>
          <p:cNvSpPr/>
          <p:nvPr/>
        </p:nvSpPr>
        <p:spPr>
          <a:xfrm>
            <a:off x="6812426" y="2911832"/>
            <a:ext cx="4438232"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events, one per file action</a:t>
            </a:r>
            <a:endParaRPr lang="en-US" sz="1300" dirty="0">
              <a:latin typeface="IBM Plex Sans" charset="0"/>
              <a:ea typeface="IBM Plex Sans" charset="0"/>
              <a:cs typeface="IBM Plex Sans" charset="0"/>
            </a:endParaRPr>
          </a:p>
        </p:txBody>
      </p:sp>
      <p:sp>
        <p:nvSpPr>
          <p:cNvPr id="23" name="Text 21"/>
          <p:cNvSpPr/>
          <p:nvPr/>
        </p:nvSpPr>
        <p:spPr>
          <a:xfrm>
            <a:off x="6812426" y="3269900"/>
            <a:ext cx="4438232" cy="416498"/>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B8521A"/>
                </a:solidFill>
                <a:latin typeface="Space Grotesk" pitchFamily="34" charset="0"/>
                <a:ea typeface="Space Grotesk" pitchFamily="34" charset="-122"/>
                <a:cs typeface="Space Grotesk" pitchFamily="34" charset="-120"/>
              </a:rPr>
              <a:t>31.1%</a:t>
            </a:r>
            <a:endParaRPr lang="en-US" sz="2800" dirty="0">
              <a:latin typeface="Space Grotesk" charset="0"/>
              <a:ea typeface="Space Grotesk" charset="0"/>
              <a:cs typeface="Space Grotesk" charset="0"/>
            </a:endParaRPr>
          </a:p>
        </p:txBody>
      </p:sp>
      <p:sp>
        <p:nvSpPr>
          <p:cNvPr id="24" name="Text 22"/>
          <p:cNvSpPr/>
          <p:nvPr/>
        </p:nvSpPr>
        <p:spPr>
          <a:xfrm>
            <a:off x="6812426" y="3673680"/>
            <a:ext cx="4438232"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labelled as leakage</a:t>
            </a:r>
            <a:endParaRPr lang="en-US" sz="1300" dirty="0">
              <a:latin typeface="IBM Plex Sans" charset="0"/>
              <a:ea typeface="IBM Plex Sans" charset="0"/>
              <a:cs typeface="IBM Plex Sans" charset="0"/>
            </a:endParaRPr>
          </a:p>
        </p:txBody>
      </p:sp>
      <p:sp>
        <p:nvSpPr>
          <p:cNvPr id="25" name="Text 23"/>
          <p:cNvSpPr/>
          <p:nvPr/>
        </p:nvSpPr>
        <p:spPr>
          <a:xfrm>
            <a:off x="6812426" y="4031748"/>
            <a:ext cx="4438232"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15 columns: who acted, how they logged in, what they did, how sensitive the file was, where it went, and when.</a:t>
            </a:r>
            <a:endParaRPr lang="en-US" sz="1300" dirty="0">
              <a:latin typeface="IBM Plex Sans" charset="0"/>
              <a:ea typeface="IBM Plex Sans" charset="0"/>
              <a:cs typeface="IBM Plex Sans" charset="0"/>
            </a:endParaRPr>
          </a:p>
        </p:txBody>
      </p:sp>
      <p:sp>
        <p:nvSpPr>
          <p:cNvPr id="26" name="Text 24"/>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27" name="Text 25"/>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03 · WHAT WE FOUND</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4"/>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Is 70.8% accuracy actually good?</a:t>
            </a:r>
            <a:endParaRPr lang="en-US" sz="3200" dirty="0">
              <a:latin typeface="Space Grotesk" charset="0"/>
              <a:ea typeface="Space Grotesk" charset="0"/>
              <a:cs typeface="Space Grotesk" charset="0"/>
            </a:endParaRPr>
          </a:p>
        </p:txBody>
      </p:sp>
      <p:sp>
        <p:nvSpPr>
          <p:cNvPr id="4" name="Shape 2"/>
          <p:cNvSpPr/>
          <p:nvPr/>
        </p:nvSpPr>
        <p:spPr>
          <a:xfrm>
            <a:off x="815925" y="1908008"/>
            <a:ext cx="3380329" cy="2327981"/>
          </a:xfrm>
          <a:prstGeom prst="roundRect">
            <a:avLst>
              <a:gd name="adj" fmla="val 4228"/>
            </a:avLst>
          </a:prstGeom>
          <a:solidFill>
            <a:srgbClr val="FCFBF8"/>
          </a:solidFill>
          <a:ln w="6350">
            <a:solidFill>
              <a:srgbClr val="E2DED4"/>
            </a:solidFill>
            <a:prstDash val="solid"/>
          </a:ln>
        </p:spPr>
      </p:sp>
      <p:sp>
        <p:nvSpPr>
          <p:cNvPr id="5" name="Text 3"/>
          <p:cNvSpPr/>
          <p:nvPr/>
        </p:nvSpPr>
        <p:spPr>
          <a:xfrm>
            <a:off x="1070584" y="2162665"/>
            <a:ext cx="2957142" cy="665456"/>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14213D"/>
                </a:solidFill>
                <a:latin typeface="Space Grotesk" pitchFamily="34" charset="0"/>
                <a:ea typeface="Space Grotesk" pitchFamily="34" charset="-122"/>
                <a:cs typeface="Space Grotesk" pitchFamily="34" charset="-120"/>
              </a:rPr>
              <a:t>68.9%</a:t>
            </a:r>
            <a:endParaRPr lang="en-US" sz="4800" dirty="0">
              <a:latin typeface="Space Grotesk" charset="0"/>
              <a:ea typeface="Space Grotesk" charset="0"/>
              <a:cs typeface="Space Grotesk" charset="0"/>
            </a:endParaRPr>
          </a:p>
        </p:txBody>
      </p:sp>
      <p:sp>
        <p:nvSpPr>
          <p:cNvPr id="6" name="Text 4"/>
          <p:cNvSpPr/>
          <p:nvPr/>
        </p:nvSpPr>
        <p:spPr>
          <a:xfrm>
            <a:off x="1070584" y="2891603"/>
            <a:ext cx="2957142" cy="279369"/>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Always “normal”</a:t>
            </a:r>
            <a:endParaRPr lang="en-US" sz="1600" dirty="0">
              <a:latin typeface="IBM Plex Sans" charset="0"/>
              <a:ea typeface="IBM Plex Sans" charset="0"/>
              <a:cs typeface="IBM Plex Sans" charset="0"/>
            </a:endParaRPr>
          </a:p>
        </p:txBody>
      </p:sp>
      <p:sp>
        <p:nvSpPr>
          <p:cNvPr id="7" name="Text 5"/>
          <p:cNvSpPr/>
          <p:nvPr/>
        </p:nvSpPr>
        <p:spPr>
          <a:xfrm>
            <a:off x="1070584" y="3234457"/>
            <a:ext cx="2957142"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A model that never raises an alert already gets this accuracy. The article is only 1.9 points higher.</a:t>
            </a:r>
            <a:endParaRPr lang="en-US" sz="1400" dirty="0">
              <a:latin typeface="IBM Plex Sans" charset="0"/>
              <a:ea typeface="IBM Plex Sans" charset="0"/>
              <a:cs typeface="IBM Plex Sans" charset="0"/>
            </a:endParaRPr>
          </a:p>
        </p:txBody>
      </p:sp>
      <p:sp>
        <p:nvSpPr>
          <p:cNvPr id="8" name="Shape 6"/>
          <p:cNvSpPr/>
          <p:nvPr/>
        </p:nvSpPr>
        <p:spPr>
          <a:xfrm>
            <a:off x="4405792" y="1908008"/>
            <a:ext cx="3380389" cy="2327981"/>
          </a:xfrm>
          <a:prstGeom prst="roundRect">
            <a:avLst>
              <a:gd name="adj" fmla="val 4228"/>
            </a:avLst>
          </a:prstGeom>
          <a:solidFill>
            <a:srgbClr val="FCFBF8"/>
          </a:solidFill>
          <a:ln w="6350">
            <a:solidFill>
              <a:srgbClr val="E2DED4"/>
            </a:solidFill>
            <a:prstDash val="solid"/>
          </a:ln>
        </p:spPr>
      </p:sp>
      <p:sp>
        <p:nvSpPr>
          <p:cNvPr id="9" name="Text 7"/>
          <p:cNvSpPr/>
          <p:nvPr/>
        </p:nvSpPr>
        <p:spPr>
          <a:xfrm>
            <a:off x="4660450" y="2162665"/>
            <a:ext cx="2957204" cy="665456"/>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B8521A"/>
                </a:solidFill>
                <a:latin typeface="Space Grotesk" pitchFamily="34" charset="0"/>
                <a:ea typeface="Space Grotesk" pitchFamily="34" charset="-122"/>
                <a:cs typeface="Space Grotesk" pitchFamily="34" charset="-120"/>
              </a:rPr>
              <a:t>31.5%</a:t>
            </a:r>
            <a:endParaRPr lang="en-US" sz="4800" dirty="0">
              <a:latin typeface="Space Grotesk" charset="0"/>
              <a:ea typeface="Space Grotesk" charset="0"/>
              <a:cs typeface="Space Grotesk" charset="0"/>
            </a:endParaRPr>
          </a:p>
        </p:txBody>
      </p:sp>
      <p:sp>
        <p:nvSpPr>
          <p:cNvPr id="10" name="Text 8"/>
          <p:cNvSpPr/>
          <p:nvPr/>
        </p:nvSpPr>
        <p:spPr>
          <a:xfrm>
            <a:off x="4660450" y="2891603"/>
            <a:ext cx="2957204" cy="279369"/>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Leakage recall</a:t>
            </a:r>
            <a:endParaRPr lang="en-US" sz="1600" dirty="0">
              <a:latin typeface="IBM Plex Sans" charset="0"/>
              <a:ea typeface="IBM Plex Sans" charset="0"/>
              <a:cs typeface="IBM Plex Sans" charset="0"/>
            </a:endParaRPr>
          </a:p>
        </p:txBody>
      </p:sp>
      <p:sp>
        <p:nvSpPr>
          <p:cNvPr id="11" name="Text 9"/>
          <p:cNvSpPr/>
          <p:nvPr/>
        </p:nvSpPr>
        <p:spPr>
          <a:xfrm>
            <a:off x="4660450" y="3234457"/>
            <a:ext cx="2957204"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Fewer than one leak in three is caught; about 69% of leaks are missed.</a:t>
            </a:r>
            <a:endParaRPr lang="en-US" sz="1400" dirty="0">
              <a:latin typeface="IBM Plex Sans" charset="0"/>
              <a:ea typeface="IBM Plex Sans" charset="0"/>
              <a:cs typeface="IBM Plex Sans" charset="0"/>
            </a:endParaRPr>
          </a:p>
        </p:txBody>
      </p:sp>
      <p:sp>
        <p:nvSpPr>
          <p:cNvPr id="12" name="Shape 10"/>
          <p:cNvSpPr/>
          <p:nvPr/>
        </p:nvSpPr>
        <p:spPr>
          <a:xfrm>
            <a:off x="7995719" y="1908008"/>
            <a:ext cx="3380329" cy="2327981"/>
          </a:xfrm>
          <a:prstGeom prst="roundRect">
            <a:avLst>
              <a:gd name="adj" fmla="val 4228"/>
            </a:avLst>
          </a:prstGeom>
          <a:solidFill>
            <a:srgbClr val="FCFBF8"/>
          </a:solidFill>
          <a:ln w="6350">
            <a:solidFill>
              <a:srgbClr val="E2DED4"/>
            </a:solidFill>
            <a:prstDash val="solid"/>
          </a:ln>
        </p:spPr>
      </p:sp>
      <p:sp>
        <p:nvSpPr>
          <p:cNvPr id="13" name="Text 11"/>
          <p:cNvSpPr/>
          <p:nvPr/>
        </p:nvSpPr>
        <p:spPr>
          <a:xfrm>
            <a:off x="8250377" y="2162665"/>
            <a:ext cx="2957142" cy="665456"/>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1F5FA8"/>
                </a:solidFill>
                <a:latin typeface="Space Grotesk" pitchFamily="34" charset="0"/>
                <a:ea typeface="Space Grotesk" pitchFamily="34" charset="-122"/>
                <a:cs typeface="Space Grotesk" pitchFamily="34" charset="-120"/>
              </a:rPr>
              <a:t>74.3%</a:t>
            </a:r>
            <a:endParaRPr lang="en-US" sz="4800" dirty="0">
              <a:latin typeface="Space Grotesk" charset="0"/>
              <a:ea typeface="Space Grotesk" charset="0"/>
              <a:cs typeface="Space Grotesk" charset="0"/>
            </a:endParaRPr>
          </a:p>
        </p:txBody>
      </p:sp>
      <p:sp>
        <p:nvSpPr>
          <p:cNvPr id="14" name="Text 12"/>
          <p:cNvSpPr/>
          <p:nvPr/>
        </p:nvSpPr>
        <p:spPr>
          <a:xfrm>
            <a:off x="8250377" y="2891603"/>
            <a:ext cx="2957142" cy="279369"/>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Ceiling with nine attributes</a:t>
            </a:r>
            <a:endParaRPr lang="en-US" sz="1600" dirty="0">
              <a:latin typeface="IBM Plex Sans" charset="0"/>
              <a:ea typeface="IBM Plex Sans" charset="0"/>
              <a:cs typeface="IBM Plex Sans" charset="0"/>
            </a:endParaRPr>
          </a:p>
        </p:txBody>
      </p:sp>
      <p:sp>
        <p:nvSpPr>
          <p:cNvPr id="15" name="Text 13"/>
          <p:cNvSpPr/>
          <p:nvPr/>
        </p:nvSpPr>
        <p:spPr>
          <a:xfrm>
            <a:off x="8250377" y="3234457"/>
            <a:ext cx="2957142"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454"/>
                </a:solidFill>
                <a:latin typeface="IBM Plex Sans" pitchFamily="34" charset="0"/>
                <a:ea typeface="IBM Plex Sans" pitchFamily="34" charset="-122"/>
                <a:cs typeface="IBM Plex Sans" pitchFamily="34" charset="-120"/>
              </a:rPr>
              <a:t>91% of events share their exact attribute combination with events of the other label.</a:t>
            </a:r>
            <a:endParaRPr lang="en-US" sz="1400" dirty="0">
              <a:latin typeface="IBM Plex Sans" charset="0"/>
              <a:ea typeface="IBM Plex Sans" charset="0"/>
              <a:cs typeface="IBM Plex Sans" charset="0"/>
            </a:endParaRPr>
          </a:p>
        </p:txBody>
      </p:sp>
      <p:sp>
        <p:nvSpPr>
          <p:cNvPr id="16" name="Text 14"/>
          <p:cNvSpPr/>
          <p:nvPr/>
        </p:nvSpPr>
        <p:spPr>
          <a:xfrm>
            <a:off x="812750" y="4594755"/>
            <a:ext cx="10883467" cy="322543"/>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The limit is in the attributes, not in the algorithm.</a:t>
            </a:r>
            <a:endParaRPr lang="en-US" sz="1800" dirty="0">
              <a:latin typeface="IBM Plex Sans" charset="0"/>
              <a:ea typeface="IBM Plex Sans" charset="0"/>
              <a:cs typeface="IBM Plex Sans" charset="0"/>
            </a:endParaRPr>
          </a:p>
        </p:txBody>
      </p:sp>
      <p:sp>
        <p:nvSpPr>
          <p:cNvPr id="17" name="Text 15"/>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18" name="Text 16"/>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06</a:t>
            </a:r>
            <a:endParaRPr lang="en-US" sz="1200" dirty="0">
              <a:latin typeface="IBM Plex Sans" charset="0"/>
              <a:ea typeface="IBM Plex Sans" charset="0"/>
              <a:cs typeface="IBM Plex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04 · OUR METHOD</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4"/>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A leakage-safe evaluation pipeline</a:t>
            </a:r>
            <a:endParaRPr lang="en-US" sz="3200" dirty="0">
              <a:latin typeface="Space Grotesk" charset="0"/>
              <a:ea typeface="Space Grotesk" charset="0"/>
              <a:cs typeface="Space Grotesk" charset="0"/>
            </a:endParaRPr>
          </a:p>
        </p:txBody>
      </p:sp>
      <p:sp>
        <p:nvSpPr>
          <p:cNvPr id="4" name="Shape 2"/>
          <p:cNvSpPr/>
          <p:nvPr/>
        </p:nvSpPr>
        <p:spPr>
          <a:xfrm>
            <a:off x="819100" y="1911179"/>
            <a:ext cx="2209863" cy="1673907"/>
          </a:xfrm>
          <a:prstGeom prst="roundRect">
            <a:avLst>
              <a:gd name="adj" fmla="val 4932"/>
            </a:avLst>
          </a:prstGeom>
          <a:solidFill>
            <a:srgbClr val="EFEEEA"/>
          </a:solidFill>
          <a:ln w="12700">
            <a:solidFill>
              <a:srgbClr val="8C8C8C"/>
            </a:solidFill>
            <a:prstDash val="solid"/>
          </a:ln>
        </p:spPr>
      </p:sp>
      <p:sp>
        <p:nvSpPr>
          <p:cNvPr id="5" name="Text 3"/>
          <p:cNvSpPr/>
          <p:nvPr/>
        </p:nvSpPr>
        <p:spPr>
          <a:xfrm>
            <a:off x="1027531" y="2119610"/>
            <a:ext cx="1846791"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Data and ceiling</a:t>
            </a:r>
            <a:endParaRPr lang="en-US" sz="1600" dirty="0">
              <a:latin typeface="Space Grotesk" charset="0"/>
              <a:ea typeface="Space Grotesk" charset="0"/>
              <a:cs typeface="Space Grotesk" charset="0"/>
            </a:endParaRPr>
          </a:p>
        </p:txBody>
      </p:sp>
      <p:sp>
        <p:nvSpPr>
          <p:cNvPr id="6" name="Text 4"/>
          <p:cNvSpPr/>
          <p:nvPr/>
        </p:nvSpPr>
        <p:spPr>
          <a:xfrm>
            <a:off x="1027531" y="2452319"/>
            <a:ext cx="1846791" cy="7186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Audit the events and compute the best possible accuracy, Acc*</a:t>
            </a:r>
            <a:endParaRPr lang="en-US" sz="1300" dirty="0">
              <a:latin typeface="IBM Plex Sans" charset="0"/>
              <a:ea typeface="IBM Plex Sans" charset="0"/>
              <a:cs typeface="IBM Plex Sans" charset="0"/>
            </a:endParaRPr>
          </a:p>
        </p:txBody>
      </p:sp>
      <p:pic>
        <p:nvPicPr>
          <p:cNvPr id="7" name="Image 0" descr="arrow-right">    </p:cNvPr>
          <p:cNvPicPr>
            <a:picLocks noChangeAspect="1"/>
          </p:cNvPicPr>
          <p:nvPr/>
        </p:nvPicPr>
        <p:blipFill>
          <a:blip r:embed="rId1"/>
          <a:srcRect l="0" r="0" t="-4" b="-4"/>
          <a:stretch/>
        </p:blipFill>
        <p:spPr>
          <a:xfrm>
            <a:off x="3162297" y="2665589"/>
            <a:ext cx="304751" cy="165086"/>
          </a:xfrm>
          <a:prstGeom prst="rect">
            <a:avLst/>
          </a:prstGeom>
        </p:spPr>
      </p:pic>
      <p:sp>
        <p:nvSpPr>
          <p:cNvPr id="8" name="Shape 5"/>
          <p:cNvSpPr/>
          <p:nvPr/>
        </p:nvSpPr>
        <p:spPr>
          <a:xfrm>
            <a:off x="3600383" y="1911179"/>
            <a:ext cx="2209923" cy="1673907"/>
          </a:xfrm>
          <a:prstGeom prst="roundRect">
            <a:avLst>
              <a:gd name="adj" fmla="val 4932"/>
            </a:avLst>
          </a:prstGeom>
          <a:solidFill>
            <a:srgbClr val="F8DCDA"/>
          </a:solidFill>
          <a:ln w="12700">
            <a:solidFill>
              <a:srgbClr val="B85450"/>
            </a:solidFill>
            <a:prstDash val="solid"/>
          </a:ln>
        </p:spPr>
      </p:sp>
      <p:sp>
        <p:nvSpPr>
          <p:cNvPr id="9" name="Text 6"/>
          <p:cNvSpPr/>
          <p:nvPr/>
        </p:nvSpPr>
        <p:spPr>
          <a:xfrm>
            <a:off x="3808814" y="2119610"/>
            <a:ext cx="1846853"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Split 80 : 20</a:t>
            </a:r>
            <a:endParaRPr lang="en-US" sz="1600" dirty="0">
              <a:latin typeface="Space Grotesk" charset="0"/>
              <a:ea typeface="Space Grotesk" charset="0"/>
              <a:cs typeface="Space Grotesk" charset="0"/>
            </a:endParaRPr>
          </a:p>
        </p:txBody>
      </p:sp>
      <p:sp>
        <p:nvSpPr>
          <p:cNvPr id="10" name="Text 7"/>
          <p:cNvSpPr/>
          <p:nvPr/>
        </p:nvSpPr>
        <p:spPr>
          <a:xfrm>
            <a:off x="3808814" y="2452319"/>
            <a:ext cx="1846853" cy="7186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Stratified, before any fitting; 9,900 test events locked away</a:t>
            </a:r>
            <a:endParaRPr lang="en-US" sz="1300" dirty="0">
              <a:latin typeface="IBM Plex Sans" charset="0"/>
              <a:ea typeface="IBM Plex Sans" charset="0"/>
              <a:cs typeface="IBM Plex Sans" charset="0"/>
            </a:endParaRPr>
          </a:p>
        </p:txBody>
      </p:sp>
      <p:pic>
        <p:nvPicPr>
          <p:cNvPr id="11" name="Image 1" descr="arrow-right">    </p:cNvPr>
          <p:cNvPicPr>
            <a:picLocks noChangeAspect="1"/>
          </p:cNvPicPr>
          <p:nvPr/>
        </p:nvPicPr>
        <p:blipFill>
          <a:blip r:embed="rId2"/>
          <a:srcRect l="0" r="0" t="-4" b="-4"/>
          <a:stretch/>
        </p:blipFill>
        <p:spPr>
          <a:xfrm>
            <a:off x="5943641" y="2665589"/>
            <a:ext cx="304751" cy="165086"/>
          </a:xfrm>
          <a:prstGeom prst="rect">
            <a:avLst/>
          </a:prstGeom>
        </p:spPr>
      </p:pic>
      <p:sp>
        <p:nvSpPr>
          <p:cNvPr id="12" name="Shape 8"/>
          <p:cNvSpPr/>
          <p:nvPr/>
        </p:nvSpPr>
        <p:spPr>
          <a:xfrm>
            <a:off x="6381727" y="1911179"/>
            <a:ext cx="2209863" cy="1673907"/>
          </a:xfrm>
          <a:prstGeom prst="roundRect">
            <a:avLst>
              <a:gd name="adj" fmla="val 4932"/>
            </a:avLst>
          </a:prstGeom>
          <a:solidFill>
            <a:srgbClr val="DDE9FA"/>
          </a:solidFill>
          <a:ln w="12700">
            <a:solidFill>
              <a:srgbClr val="6C8EBF"/>
            </a:solidFill>
            <a:prstDash val="solid"/>
          </a:ln>
        </p:spPr>
      </p:sp>
      <p:sp>
        <p:nvSpPr>
          <p:cNvPr id="13" name="Text 9"/>
          <p:cNvSpPr/>
          <p:nvPr/>
        </p:nvSpPr>
        <p:spPr>
          <a:xfrm>
            <a:off x="6590157" y="2119610"/>
            <a:ext cx="1846791"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Train and tune</a:t>
            </a:r>
            <a:endParaRPr lang="en-US" sz="1600" dirty="0">
              <a:latin typeface="Space Grotesk" charset="0"/>
              <a:ea typeface="Space Grotesk" charset="0"/>
              <a:cs typeface="Space Grotesk" charset="0"/>
            </a:endParaRPr>
          </a:p>
        </p:txBody>
      </p:sp>
      <p:sp>
        <p:nvSpPr>
          <p:cNvPr id="14" name="Text 10"/>
          <p:cNvSpPr/>
          <p:nvPr/>
        </p:nvSpPr>
        <p:spPr>
          <a:xfrm>
            <a:off x="6590157" y="2452319"/>
            <a:ext cx="1846791" cy="94973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Reference tree, new attributes, 3 models, 4 balancers, threshold θ*: training set only</a:t>
            </a:r>
            <a:endParaRPr lang="en-US" sz="1300" dirty="0">
              <a:latin typeface="IBM Plex Sans" charset="0"/>
              <a:ea typeface="IBM Plex Sans" charset="0"/>
              <a:cs typeface="IBM Plex Sans" charset="0"/>
            </a:endParaRPr>
          </a:p>
        </p:txBody>
      </p:sp>
      <p:pic>
        <p:nvPicPr>
          <p:cNvPr id="15" name="Image 2" descr="arrow-right">    </p:cNvPr>
          <p:cNvPicPr>
            <a:picLocks noChangeAspect="1"/>
          </p:cNvPicPr>
          <p:nvPr/>
        </p:nvPicPr>
        <p:blipFill>
          <a:blip r:embed="rId3"/>
          <a:srcRect l="0" r="0" t="-4" b="-4"/>
          <a:stretch/>
        </p:blipFill>
        <p:spPr>
          <a:xfrm>
            <a:off x="8724924" y="2665589"/>
            <a:ext cx="304751" cy="165086"/>
          </a:xfrm>
          <a:prstGeom prst="rect">
            <a:avLst/>
          </a:prstGeom>
        </p:spPr>
      </p:pic>
      <p:sp>
        <p:nvSpPr>
          <p:cNvPr id="16" name="Shape 11"/>
          <p:cNvSpPr/>
          <p:nvPr/>
        </p:nvSpPr>
        <p:spPr>
          <a:xfrm>
            <a:off x="9163010" y="1911179"/>
            <a:ext cx="2209863" cy="1673907"/>
          </a:xfrm>
          <a:prstGeom prst="roundRect">
            <a:avLst>
              <a:gd name="adj" fmla="val 4932"/>
            </a:avLst>
          </a:prstGeom>
          <a:solidFill>
            <a:srgbClr val="DCEBDB"/>
          </a:solidFill>
          <a:ln w="12700">
            <a:solidFill>
              <a:srgbClr val="82B366"/>
            </a:solidFill>
            <a:prstDash val="solid"/>
          </a:ln>
        </p:spPr>
      </p:sp>
      <p:sp>
        <p:nvSpPr>
          <p:cNvPr id="17" name="Text 12"/>
          <p:cNvSpPr/>
          <p:nvPr/>
        </p:nvSpPr>
        <p:spPr>
          <a:xfrm>
            <a:off x="9371440" y="2119610"/>
            <a:ext cx="1846791"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Test once</a:t>
            </a:r>
            <a:endParaRPr lang="en-US" sz="1600" dirty="0">
              <a:latin typeface="Space Grotesk" charset="0"/>
              <a:ea typeface="Space Grotesk" charset="0"/>
              <a:cs typeface="Space Grotesk" charset="0"/>
            </a:endParaRPr>
          </a:p>
        </p:txBody>
      </p:sp>
      <p:sp>
        <p:nvSpPr>
          <p:cNvPr id="18" name="Text 13"/>
          <p:cNvSpPr/>
          <p:nvPr/>
        </p:nvSpPr>
        <p:spPr>
          <a:xfrm>
            <a:off x="9371440" y="2452319"/>
            <a:ext cx="1846791" cy="94973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Final scores, comparison with the article’s tree, rules and importance</a:t>
            </a:r>
            <a:endParaRPr lang="en-US" sz="1300" dirty="0">
              <a:latin typeface="IBM Plex Sans" charset="0"/>
              <a:ea typeface="IBM Plex Sans" charset="0"/>
              <a:cs typeface="IBM Plex Sans" charset="0"/>
            </a:endParaRPr>
          </a:p>
        </p:txBody>
      </p:sp>
      <p:pic>
        <p:nvPicPr>
          <p:cNvPr id="19" name="Image 3" descr="Check">    </p:cNvPr>
          <p:cNvPicPr>
            <a:picLocks noChangeAspect="1"/>
          </p:cNvPicPr>
          <p:nvPr/>
        </p:nvPicPr>
        <p:blipFill>
          <a:blip r:embed="rId4"/>
          <a:srcRect l="0" r="0" t="0" b="0"/>
          <a:stretch/>
        </p:blipFill>
        <p:spPr>
          <a:xfrm>
            <a:off x="812750" y="3947030"/>
            <a:ext cx="253969" cy="253969"/>
          </a:xfrm>
          <a:prstGeom prst="rect">
            <a:avLst/>
          </a:prstGeom>
        </p:spPr>
      </p:pic>
      <p:sp>
        <p:nvSpPr>
          <p:cNvPr id="20" name="Text 14"/>
          <p:cNvSpPr/>
          <p:nvPr/>
        </p:nvSpPr>
        <p:spPr>
          <a:xfrm>
            <a:off x="1193704" y="3953973"/>
            <a:ext cx="10491085"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Every fitted step (imputer, encoder, resampler) sits inside a pipeline and is refit in each fold.</a:t>
            </a:r>
            <a:endParaRPr lang="en-US" sz="1400" dirty="0">
              <a:latin typeface="IBM Plex Sans" charset="0"/>
              <a:ea typeface="IBM Plex Sans" charset="0"/>
              <a:cs typeface="IBM Plex Sans" charset="0"/>
            </a:endParaRPr>
          </a:p>
        </p:txBody>
      </p:sp>
      <p:pic>
        <p:nvPicPr>
          <p:cNvPr id="21" name="Image 4" descr="Check">    </p:cNvPr>
          <p:cNvPicPr>
            <a:picLocks noChangeAspect="1"/>
          </p:cNvPicPr>
          <p:nvPr/>
        </p:nvPicPr>
        <p:blipFill>
          <a:blip r:embed="rId5"/>
          <a:srcRect l="0" r="0" t="0" b="0"/>
          <a:stretch/>
        </p:blipFill>
        <p:spPr>
          <a:xfrm>
            <a:off x="812750" y="4327984"/>
            <a:ext cx="253969" cy="253969"/>
          </a:xfrm>
          <a:prstGeom prst="rect">
            <a:avLst/>
          </a:prstGeom>
        </p:spPr>
      </p:pic>
      <p:sp>
        <p:nvSpPr>
          <p:cNvPr id="22" name="Text 15"/>
          <p:cNvSpPr/>
          <p:nvPr/>
        </p:nvSpPr>
        <p:spPr>
          <a:xfrm>
            <a:off x="1193704" y="4334926"/>
            <a:ext cx="10491085"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The same stratified 5-fold split is used for every comparison.</a:t>
            </a:r>
            <a:endParaRPr lang="en-US" sz="1400" dirty="0">
              <a:latin typeface="IBM Plex Sans" charset="0"/>
              <a:ea typeface="IBM Plex Sans" charset="0"/>
              <a:cs typeface="IBM Plex Sans" charset="0"/>
            </a:endParaRPr>
          </a:p>
        </p:txBody>
      </p:sp>
      <p:pic>
        <p:nvPicPr>
          <p:cNvPr id="23" name="Image 5" descr="Check">    </p:cNvPr>
          <p:cNvPicPr>
            <a:picLocks noChangeAspect="1"/>
          </p:cNvPicPr>
          <p:nvPr/>
        </p:nvPicPr>
        <p:blipFill>
          <a:blip r:embed="rId6"/>
          <a:srcRect l="0" r="0" t="0" b="0"/>
          <a:stretch/>
        </p:blipFill>
        <p:spPr>
          <a:xfrm>
            <a:off x="812750" y="4708937"/>
            <a:ext cx="253969" cy="253969"/>
          </a:xfrm>
          <a:prstGeom prst="rect">
            <a:avLst/>
          </a:prstGeom>
        </p:spPr>
      </p:pic>
      <p:sp>
        <p:nvSpPr>
          <p:cNvPr id="24" name="Text 16"/>
          <p:cNvSpPr/>
          <p:nvPr/>
        </p:nvSpPr>
        <p:spPr>
          <a:xfrm>
            <a:off x="1193704" y="4715880"/>
            <a:ext cx="10491085"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The alert threshold comes from out-of-fold scores, never from the test set.</a:t>
            </a:r>
            <a:endParaRPr lang="en-US" sz="1400" dirty="0">
              <a:latin typeface="IBM Plex Sans" charset="0"/>
              <a:ea typeface="IBM Plex Sans" charset="0"/>
              <a:cs typeface="IBM Plex Sans" charset="0"/>
            </a:endParaRPr>
          </a:p>
        </p:txBody>
      </p:sp>
      <p:sp>
        <p:nvSpPr>
          <p:cNvPr id="25" name="Text 17"/>
          <p:cNvSpPr/>
          <p:nvPr/>
        </p:nvSpPr>
        <p:spPr>
          <a:xfrm>
            <a:off x="812750" y="6238246"/>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26" name="Text 18"/>
          <p:cNvSpPr/>
          <p:nvPr/>
        </p:nvSpPr>
        <p:spPr>
          <a:xfrm>
            <a:off x="10566454" y="6238246"/>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07</a:t>
            </a:r>
            <a:endParaRPr lang="en-US" sz="1200" dirty="0">
              <a:latin typeface="IBM Plex Sans" charset="0"/>
              <a:ea typeface="IBM Plex Sans" charset="0"/>
              <a:cs typeface="IBM Plex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04 · IMPROVEMENTS</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4"/>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What we changed to catch more leaks</a:t>
            </a:r>
            <a:endParaRPr lang="en-US" sz="3200" dirty="0">
              <a:latin typeface="Space Grotesk" charset="0"/>
              <a:ea typeface="Space Grotesk" charset="0"/>
              <a:cs typeface="Space Grotesk" charset="0"/>
            </a:endParaRPr>
          </a:p>
        </p:txBody>
      </p:sp>
      <p:sp>
        <p:nvSpPr>
          <p:cNvPr id="4" name="Shape 2"/>
          <p:cNvSpPr/>
          <p:nvPr/>
        </p:nvSpPr>
        <p:spPr>
          <a:xfrm>
            <a:off x="815925" y="1857164"/>
            <a:ext cx="3380329" cy="2537026"/>
          </a:xfrm>
          <a:prstGeom prst="roundRect">
            <a:avLst>
              <a:gd name="adj" fmla="val 3880"/>
            </a:avLst>
          </a:prstGeom>
          <a:solidFill>
            <a:srgbClr val="FCFBF8"/>
          </a:solidFill>
          <a:ln w="6350">
            <a:solidFill>
              <a:srgbClr val="E2DED4"/>
            </a:solidFill>
            <a:prstDash val="solid"/>
          </a:ln>
        </p:spPr>
      </p:sp>
      <p:sp>
        <p:nvSpPr>
          <p:cNvPr id="5" name="Text 3"/>
          <p:cNvSpPr/>
          <p:nvPr/>
        </p:nvSpPr>
        <p:spPr>
          <a:xfrm>
            <a:off x="1070584" y="2086400"/>
            <a:ext cx="2957142"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1 · Two new attributes</a:t>
            </a:r>
            <a:endParaRPr lang="en-US" sz="1700" dirty="0">
              <a:latin typeface="Space Grotesk" charset="0"/>
              <a:ea typeface="Space Grotesk" charset="0"/>
              <a:cs typeface="Space Grotesk" charset="0"/>
            </a:endParaRPr>
          </a:p>
        </p:txBody>
      </p:sp>
      <p:sp>
        <p:nvSpPr>
          <p:cNvPr id="6" name="Text 4"/>
          <p:cNvSpPr/>
          <p:nvPr/>
        </p:nvSpPr>
        <p:spPr>
          <a:xfrm>
            <a:off x="1070584" y="2421644"/>
            <a:ext cx="2957142" cy="478753"/>
          </a:xfrm>
          <a:prstGeom prst="rect">
            <a:avLst/>
          </a:prstGeom>
          <a:noFill/>
          <a:ln/>
        </p:spPr>
        <p:txBody>
          <a:bodyPr wrap="square" lIns="0" tIns="0" rIns="0" bIns="0" rtlCol="0" anchor="t">
            <a:normAutofit/>
          </a:bodyPr>
          <a:lstStyle/>
          <a:p>
            <a:pPr algn="l" indent="0" marL="0">
              <a:lnSpc>
                <a:spcPts val="3570"/>
              </a:lnSpc>
              <a:buNone/>
            </a:pPr>
            <a:r>
              <a:rPr lang="en-US" sz="3400" b="1" dirty="0">
                <a:solidFill>
                  <a:srgbClr val="B8521A"/>
                </a:solidFill>
                <a:latin typeface="Space Grotesk" pitchFamily="34" charset="0"/>
                <a:ea typeface="Space Grotesk" pitchFamily="34" charset="-122"/>
                <a:cs typeface="Space Grotesk" pitchFamily="34" charset="-120"/>
              </a:rPr>
              <a:t>+0.122</a:t>
            </a:r>
            <a:endParaRPr lang="en-US" sz="3400" dirty="0">
              <a:latin typeface="Space Grotesk" charset="0"/>
              <a:ea typeface="Space Grotesk" charset="0"/>
              <a:cs typeface="Space Grotesk" charset="0"/>
            </a:endParaRPr>
          </a:p>
        </p:txBody>
      </p:sp>
      <p:sp>
        <p:nvSpPr>
          <p:cNvPr id="7" name="Text 5"/>
          <p:cNvSpPr/>
          <p:nvPr/>
        </p:nvSpPr>
        <p:spPr>
          <a:xfrm>
            <a:off x="1070584" y="2951141"/>
            <a:ext cx="2957142"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676"/>
                </a:solidFill>
                <a:latin typeface="IBM Plex Sans" pitchFamily="34" charset="0"/>
                <a:ea typeface="IBM Plex Sans" pitchFamily="34" charset="-122"/>
                <a:cs typeface="IBM Plex Sans" pitchFamily="34" charset="-120"/>
              </a:rPr>
              <a:t>PR-AUC, 5-fold CV</a:t>
            </a:r>
            <a:endParaRPr lang="en-US" sz="1200" dirty="0">
              <a:latin typeface="IBM Plex Sans" charset="0"/>
              <a:ea typeface="IBM Plex Sans" charset="0"/>
              <a:cs typeface="IBM Plex Sans" charset="0"/>
            </a:endParaRPr>
          </a:p>
        </p:txBody>
      </p:sp>
      <p:sp>
        <p:nvSpPr>
          <p:cNvPr id="8" name="Text 6"/>
          <p:cNvSpPr/>
          <p:nvPr/>
        </p:nvSpPr>
        <p:spPr>
          <a:xfrm>
            <a:off x="1070584" y="3240615"/>
            <a:ext cx="2957142" cy="94973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External destination: 39.0% leakage vs 25.9% internal. Hour: 40.4% outside working hours vs 15.8% inside.</a:t>
            </a:r>
            <a:endParaRPr lang="en-US" sz="1300" dirty="0">
              <a:latin typeface="IBM Plex Sans" charset="0"/>
              <a:ea typeface="IBM Plex Sans" charset="0"/>
              <a:cs typeface="IBM Plex Sans" charset="0"/>
            </a:endParaRPr>
          </a:p>
        </p:txBody>
      </p:sp>
      <p:sp>
        <p:nvSpPr>
          <p:cNvPr id="9" name="Shape 7"/>
          <p:cNvSpPr/>
          <p:nvPr/>
        </p:nvSpPr>
        <p:spPr>
          <a:xfrm>
            <a:off x="4405792" y="1857164"/>
            <a:ext cx="3380389" cy="2537026"/>
          </a:xfrm>
          <a:prstGeom prst="roundRect">
            <a:avLst>
              <a:gd name="adj" fmla="val 3880"/>
            </a:avLst>
          </a:prstGeom>
          <a:solidFill>
            <a:srgbClr val="FCFBF8"/>
          </a:solidFill>
          <a:ln w="6350">
            <a:solidFill>
              <a:srgbClr val="E2DED4"/>
            </a:solidFill>
            <a:prstDash val="solid"/>
          </a:ln>
        </p:spPr>
      </p:sp>
      <p:sp>
        <p:nvSpPr>
          <p:cNvPr id="10" name="Text 8"/>
          <p:cNvSpPr/>
          <p:nvPr/>
        </p:nvSpPr>
        <p:spPr>
          <a:xfrm>
            <a:off x="4660450" y="2086400"/>
            <a:ext cx="2957204"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2 · Model choice</a:t>
            </a:r>
            <a:endParaRPr lang="en-US" sz="1700" dirty="0">
              <a:latin typeface="Space Grotesk" charset="0"/>
              <a:ea typeface="Space Grotesk" charset="0"/>
              <a:cs typeface="Space Grotesk" charset="0"/>
            </a:endParaRPr>
          </a:p>
        </p:txBody>
      </p:sp>
      <p:sp>
        <p:nvSpPr>
          <p:cNvPr id="11" name="Text 9"/>
          <p:cNvSpPr/>
          <p:nvPr/>
        </p:nvSpPr>
        <p:spPr>
          <a:xfrm>
            <a:off x="4660450" y="2421644"/>
            <a:ext cx="2957204" cy="478753"/>
          </a:xfrm>
          <a:prstGeom prst="rect">
            <a:avLst/>
          </a:prstGeom>
          <a:noFill/>
          <a:ln/>
        </p:spPr>
        <p:txBody>
          <a:bodyPr wrap="square" lIns="0" tIns="0" rIns="0" bIns="0" rtlCol="0" anchor="t">
            <a:normAutofit/>
          </a:bodyPr>
          <a:lstStyle/>
          <a:p>
            <a:pPr algn="l" indent="0" marL="0">
              <a:lnSpc>
                <a:spcPts val="3570"/>
              </a:lnSpc>
              <a:buNone/>
            </a:pPr>
            <a:r>
              <a:rPr lang="en-US" sz="3400" b="1" dirty="0">
                <a:solidFill>
                  <a:srgbClr val="5E6676"/>
                </a:solidFill>
                <a:latin typeface="Space Grotesk" pitchFamily="34" charset="0"/>
                <a:ea typeface="Space Grotesk" pitchFamily="34" charset="-122"/>
                <a:cs typeface="Space Grotesk" pitchFamily="34" charset="-120"/>
              </a:rPr>
              <a:t>+0.013</a:t>
            </a:r>
            <a:endParaRPr lang="en-US" sz="3400" dirty="0">
              <a:latin typeface="Space Grotesk" charset="0"/>
              <a:ea typeface="Space Grotesk" charset="0"/>
              <a:cs typeface="Space Grotesk" charset="0"/>
            </a:endParaRPr>
          </a:p>
        </p:txBody>
      </p:sp>
      <p:sp>
        <p:nvSpPr>
          <p:cNvPr id="12" name="Text 10"/>
          <p:cNvSpPr/>
          <p:nvPr/>
        </p:nvSpPr>
        <p:spPr>
          <a:xfrm>
            <a:off x="4660450" y="2951141"/>
            <a:ext cx="2957204"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676"/>
                </a:solidFill>
                <a:latin typeface="IBM Plex Sans" pitchFamily="34" charset="0"/>
                <a:ea typeface="IBM Plex Sans" pitchFamily="34" charset="-122"/>
                <a:cs typeface="IBM Plex Sans" pitchFamily="34" charset="-120"/>
              </a:rPr>
              <a:t>PR-AUC, XGBoost over the tree</a:t>
            </a:r>
            <a:endParaRPr lang="en-US" sz="1200" dirty="0">
              <a:latin typeface="IBM Plex Sans" charset="0"/>
              <a:ea typeface="IBM Plex Sans" charset="0"/>
              <a:cs typeface="IBM Plex Sans" charset="0"/>
            </a:endParaRPr>
          </a:p>
        </p:txBody>
      </p:sp>
      <p:sp>
        <p:nvSpPr>
          <p:cNvPr id="13" name="Text 11"/>
          <p:cNvSpPr/>
          <p:nvPr/>
        </p:nvSpPr>
        <p:spPr>
          <a:xfrm>
            <a:off x="4660450" y="3240615"/>
            <a:ext cx="2957204" cy="7186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Too small to give up readable rules: we keep the tree. Class weights kept; SMOTEN and resampling scored lower.</a:t>
            </a:r>
            <a:endParaRPr lang="en-US" sz="1300" dirty="0">
              <a:latin typeface="IBM Plex Sans" charset="0"/>
              <a:ea typeface="IBM Plex Sans" charset="0"/>
              <a:cs typeface="IBM Plex Sans" charset="0"/>
            </a:endParaRPr>
          </a:p>
        </p:txBody>
      </p:sp>
      <p:sp>
        <p:nvSpPr>
          <p:cNvPr id="14" name="Shape 12"/>
          <p:cNvSpPr/>
          <p:nvPr/>
        </p:nvSpPr>
        <p:spPr>
          <a:xfrm>
            <a:off x="7995719" y="1857164"/>
            <a:ext cx="3380329" cy="2537026"/>
          </a:xfrm>
          <a:prstGeom prst="roundRect">
            <a:avLst>
              <a:gd name="adj" fmla="val 3880"/>
            </a:avLst>
          </a:prstGeom>
          <a:solidFill>
            <a:srgbClr val="FCFBF8"/>
          </a:solidFill>
          <a:ln w="6350">
            <a:solidFill>
              <a:srgbClr val="E2DED4"/>
            </a:solidFill>
            <a:prstDash val="solid"/>
          </a:ln>
        </p:spPr>
      </p:sp>
      <p:sp>
        <p:nvSpPr>
          <p:cNvPr id="15" name="Text 13"/>
          <p:cNvSpPr/>
          <p:nvPr/>
        </p:nvSpPr>
        <p:spPr>
          <a:xfrm>
            <a:off x="8250377" y="2086400"/>
            <a:ext cx="2957142"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3 · Alert threshold</a:t>
            </a:r>
            <a:endParaRPr lang="en-US" sz="1700" dirty="0">
              <a:latin typeface="Space Grotesk" charset="0"/>
              <a:ea typeface="Space Grotesk" charset="0"/>
              <a:cs typeface="Space Grotesk" charset="0"/>
            </a:endParaRPr>
          </a:p>
        </p:txBody>
      </p:sp>
      <p:sp>
        <p:nvSpPr>
          <p:cNvPr id="16" name="Text 14"/>
          <p:cNvSpPr/>
          <p:nvPr/>
        </p:nvSpPr>
        <p:spPr>
          <a:xfrm>
            <a:off x="8250377" y="2421644"/>
            <a:ext cx="2957142" cy="478753"/>
          </a:xfrm>
          <a:prstGeom prst="rect">
            <a:avLst/>
          </a:prstGeom>
          <a:noFill/>
          <a:ln/>
        </p:spPr>
        <p:txBody>
          <a:bodyPr wrap="square" lIns="0" tIns="0" rIns="0" bIns="0" rtlCol="0" anchor="t">
            <a:normAutofit/>
          </a:bodyPr>
          <a:lstStyle/>
          <a:p>
            <a:pPr algn="l" indent="0" marL="0">
              <a:lnSpc>
                <a:spcPts val="3570"/>
              </a:lnSpc>
              <a:buNone/>
            </a:pPr>
            <a:r>
              <a:rPr lang="en-US" sz="3400" b="1" dirty="0">
                <a:solidFill>
                  <a:srgbClr val="1F5FA8"/>
                </a:solidFill>
                <a:latin typeface="Space Grotesk" pitchFamily="34" charset="0"/>
                <a:ea typeface="Space Grotesk" pitchFamily="34" charset="-122"/>
                <a:cs typeface="Space Grotesk" pitchFamily="34" charset="-120"/>
              </a:rPr>
              <a:t>θ* = 0.416</a:t>
            </a:r>
            <a:endParaRPr lang="en-US" sz="3400" dirty="0">
              <a:latin typeface="Space Grotesk" charset="0"/>
              <a:ea typeface="Space Grotesk" charset="0"/>
              <a:cs typeface="Space Grotesk" charset="0"/>
            </a:endParaRPr>
          </a:p>
        </p:txBody>
      </p:sp>
      <p:sp>
        <p:nvSpPr>
          <p:cNvPr id="17" name="Text 15"/>
          <p:cNvSpPr/>
          <p:nvPr/>
        </p:nvSpPr>
        <p:spPr>
          <a:xfrm>
            <a:off x="8250377" y="2951141"/>
            <a:ext cx="2957142"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676"/>
                </a:solidFill>
                <a:latin typeface="IBM Plex Sans" pitchFamily="34" charset="0"/>
                <a:ea typeface="IBM Plex Sans" pitchFamily="34" charset="-122"/>
                <a:cs typeface="IBM Plex Sans" pitchFamily="34" charset="-120"/>
              </a:rPr>
              <a:t>instead of the default 0.5</a:t>
            </a:r>
            <a:endParaRPr lang="en-US" sz="1200" dirty="0">
              <a:latin typeface="IBM Plex Sans" charset="0"/>
              <a:ea typeface="IBM Plex Sans" charset="0"/>
              <a:cs typeface="IBM Plex Sans" charset="0"/>
            </a:endParaRPr>
          </a:p>
        </p:txBody>
      </p:sp>
      <p:sp>
        <p:nvSpPr>
          <p:cNvPr id="18" name="Text 16"/>
          <p:cNvSpPr/>
          <p:nvPr/>
        </p:nvSpPr>
        <p:spPr>
          <a:xfrm>
            <a:off x="8250377" y="3240615"/>
            <a:ext cx="2957142" cy="7186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Chosen on training data only: the most precise threshold that still catches at least 80% of leaks.</a:t>
            </a:r>
            <a:endParaRPr lang="en-US" sz="1300" dirty="0">
              <a:latin typeface="IBM Plex Sans" charset="0"/>
              <a:ea typeface="IBM Plex Sans" charset="0"/>
              <a:cs typeface="IBM Plex Sans" charset="0"/>
            </a:endParaRPr>
          </a:p>
        </p:txBody>
      </p:sp>
      <p:sp>
        <p:nvSpPr>
          <p:cNvPr id="19" name="Text 17"/>
          <p:cNvSpPr/>
          <p:nvPr/>
        </p:nvSpPr>
        <p:spPr>
          <a:xfrm>
            <a:off x="812750" y="4702116"/>
            <a:ext cx="10883467" cy="523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Baseline first:</a:t>
            </a:r>
            <a:r>
              <a:rPr lang="en-US" sz="1400" dirty="0">
                <a:solidFill>
                  <a:srgbClr val="14213D"/>
                </a:solidFill>
                <a:latin typeface="IBM Plex Sans" pitchFamily="34" charset="0"/>
                <a:ea typeface="IBM Plex Sans" pitchFamily="34" charset="-122"/>
                <a:cs typeface="IBM Plex Sans" pitchFamily="34" charset="-120"/>
              </a:rPr>
              <a:t> our rebuild of the article’s tree (one-hot, as the article states) reaches accuracy 0.695 and catches 10.1% of leaks on the same test set, below the 0.708 and 0.315 the article reports; every gain is measured against this verifiable baseline.</a:t>
            </a:r>
            <a:endParaRPr lang="en-US" sz="1400" dirty="0">
              <a:latin typeface="IBM Plex Sans" charset="0"/>
              <a:ea typeface="IBM Plex Sans" charset="0"/>
              <a:cs typeface="IBM Plex Sans" charset="0"/>
            </a:endParaRPr>
          </a:p>
        </p:txBody>
      </p:sp>
      <p:sp>
        <p:nvSpPr>
          <p:cNvPr id="20" name="Text 18"/>
          <p:cNvSpPr/>
          <p:nvPr/>
        </p:nvSpPr>
        <p:spPr>
          <a:xfrm>
            <a:off x="812750" y="6238246"/>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21" name="Text 19"/>
          <p:cNvSpPr/>
          <p:nvPr/>
        </p:nvSpPr>
        <p:spPr>
          <a:xfrm>
            <a:off x="10566454" y="6238246"/>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08</a:t>
            </a:r>
            <a:endParaRPr lang="en-US" sz="1200" dirty="0">
              <a:latin typeface="IBM Plex Sans" charset="0"/>
              <a:ea typeface="IBM Plex Sans" charset="0"/>
              <a:cs typeface="IBM Plex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05 · RESULTS ON THE TEST SET</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7"/>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Our tree catches 8.2× as many leaks</a:t>
            </a:r>
            <a:endParaRPr lang="en-US" sz="3200" dirty="0">
              <a:latin typeface="Space Grotesk" charset="0"/>
              <a:ea typeface="Space Grotesk" charset="0"/>
              <a:cs typeface="Space Grotesk" charset="0"/>
            </a:endParaRPr>
          </a:p>
        </p:txBody>
      </p:sp>
      <p:sp>
        <p:nvSpPr>
          <p:cNvPr id="4" name="Shape 2"/>
          <p:cNvSpPr/>
          <p:nvPr/>
        </p:nvSpPr>
        <p:spPr>
          <a:xfrm>
            <a:off x="815925" y="1908008"/>
            <a:ext cx="2501943" cy="2309866"/>
          </a:xfrm>
          <a:prstGeom prst="roundRect">
            <a:avLst>
              <a:gd name="adj" fmla="val 4261"/>
            </a:avLst>
          </a:prstGeom>
          <a:solidFill>
            <a:srgbClr val="FCFBF8"/>
          </a:solidFill>
          <a:ln w="6350">
            <a:solidFill>
              <a:srgbClr val="E2DED4"/>
            </a:solidFill>
            <a:prstDash val="solid"/>
          </a:ln>
        </p:spPr>
      </p:sp>
      <p:sp>
        <p:nvSpPr>
          <p:cNvPr id="5" name="Text 3"/>
          <p:cNvSpPr/>
          <p:nvPr/>
        </p:nvSpPr>
        <p:spPr>
          <a:xfrm>
            <a:off x="1045163" y="2137246"/>
            <a:ext cx="2104772"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Leaks caught</a:t>
            </a:r>
            <a:endParaRPr lang="en-US" sz="1400" dirty="0">
              <a:latin typeface="IBM Plex Sans" charset="0"/>
              <a:ea typeface="IBM Plex Sans" charset="0"/>
              <a:cs typeface="IBM Plex Sans" charset="0"/>
            </a:endParaRPr>
          </a:p>
        </p:txBody>
      </p:sp>
      <p:sp>
        <p:nvSpPr>
          <p:cNvPr id="6" name="Text 4"/>
          <p:cNvSpPr/>
          <p:nvPr/>
        </p:nvSpPr>
        <p:spPr>
          <a:xfrm>
            <a:off x="1045163" y="24496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Article’s tree</a:t>
            </a:r>
            <a:endParaRPr lang="en-US" sz="1200" dirty="0">
              <a:latin typeface="IBM Plex Sans" charset="0"/>
              <a:ea typeface="IBM Plex Sans" charset="0"/>
              <a:cs typeface="IBM Plex Sans" charset="0"/>
            </a:endParaRPr>
          </a:p>
        </p:txBody>
      </p:sp>
      <p:sp>
        <p:nvSpPr>
          <p:cNvPr id="7" name="Text 5"/>
          <p:cNvSpPr/>
          <p:nvPr/>
        </p:nvSpPr>
        <p:spPr>
          <a:xfrm>
            <a:off x="1045163" y="2726457"/>
            <a:ext cx="2104772" cy="360644"/>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E6676"/>
                </a:solidFill>
                <a:latin typeface="Space Grotesk" pitchFamily="34" charset="0"/>
                <a:ea typeface="Space Grotesk" pitchFamily="34" charset="-122"/>
                <a:cs typeface="Space Grotesk" pitchFamily="34" charset="-120"/>
              </a:rPr>
              <a:t>311</a:t>
            </a:r>
            <a:endParaRPr lang="en-US" sz="2400" dirty="0">
              <a:latin typeface="Space Grotesk" charset="0"/>
              <a:ea typeface="Space Grotesk" charset="0"/>
              <a:cs typeface="Space Grotesk" charset="0"/>
            </a:endParaRPr>
          </a:p>
        </p:txBody>
      </p:sp>
      <p:sp>
        <p:nvSpPr>
          <p:cNvPr id="8" name="Text 6"/>
          <p:cNvSpPr/>
          <p:nvPr/>
        </p:nvSpPr>
        <p:spPr>
          <a:xfrm>
            <a:off x="1045163" y="31251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Our tree</a:t>
            </a:r>
            <a:endParaRPr lang="en-US" sz="1200" dirty="0">
              <a:latin typeface="IBM Plex Sans" charset="0"/>
              <a:ea typeface="IBM Plex Sans" charset="0"/>
              <a:cs typeface="IBM Plex Sans" charset="0"/>
            </a:endParaRPr>
          </a:p>
        </p:txBody>
      </p:sp>
      <p:sp>
        <p:nvSpPr>
          <p:cNvPr id="9" name="Text 7"/>
          <p:cNvSpPr/>
          <p:nvPr/>
        </p:nvSpPr>
        <p:spPr>
          <a:xfrm>
            <a:off x="1045163" y="3401957"/>
            <a:ext cx="2104772" cy="612077"/>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F5FA8"/>
                </a:solidFill>
                <a:latin typeface="Space Grotesk" pitchFamily="34" charset="0"/>
                <a:ea typeface="Space Grotesk" pitchFamily="34" charset="-122"/>
                <a:cs typeface="Space Grotesk" pitchFamily="34" charset="-120"/>
              </a:rPr>
              <a:t>2,547</a:t>
            </a:r>
            <a:endParaRPr lang="en-US" sz="4400" dirty="0">
              <a:latin typeface="Space Grotesk" charset="0"/>
              <a:ea typeface="Space Grotesk" charset="0"/>
              <a:cs typeface="Space Grotesk" charset="0"/>
            </a:endParaRPr>
          </a:p>
        </p:txBody>
      </p:sp>
      <p:sp>
        <p:nvSpPr>
          <p:cNvPr id="10" name="Shape 8"/>
          <p:cNvSpPr/>
          <p:nvPr/>
        </p:nvSpPr>
        <p:spPr>
          <a:xfrm>
            <a:off x="3501985" y="1908008"/>
            <a:ext cx="2501943" cy="2309866"/>
          </a:xfrm>
          <a:prstGeom prst="roundRect">
            <a:avLst>
              <a:gd name="adj" fmla="val 4261"/>
            </a:avLst>
          </a:prstGeom>
          <a:solidFill>
            <a:srgbClr val="FCFBF8"/>
          </a:solidFill>
          <a:ln w="6350">
            <a:solidFill>
              <a:srgbClr val="E2DED4"/>
            </a:solidFill>
            <a:prstDash val="solid"/>
          </a:ln>
        </p:spPr>
      </p:sp>
      <p:sp>
        <p:nvSpPr>
          <p:cNvPr id="11" name="Text 9"/>
          <p:cNvSpPr/>
          <p:nvPr/>
        </p:nvSpPr>
        <p:spPr>
          <a:xfrm>
            <a:off x="3731222" y="2137246"/>
            <a:ext cx="2104772"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Recall</a:t>
            </a:r>
            <a:endParaRPr lang="en-US" sz="1400" dirty="0">
              <a:latin typeface="IBM Plex Sans" charset="0"/>
              <a:ea typeface="IBM Plex Sans" charset="0"/>
              <a:cs typeface="IBM Plex Sans" charset="0"/>
            </a:endParaRPr>
          </a:p>
        </p:txBody>
      </p:sp>
      <p:sp>
        <p:nvSpPr>
          <p:cNvPr id="12" name="Text 10"/>
          <p:cNvSpPr/>
          <p:nvPr/>
        </p:nvSpPr>
        <p:spPr>
          <a:xfrm>
            <a:off x="3731222" y="24496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Article’s tree</a:t>
            </a:r>
            <a:endParaRPr lang="en-US" sz="1200" dirty="0">
              <a:latin typeface="IBM Plex Sans" charset="0"/>
              <a:ea typeface="IBM Plex Sans" charset="0"/>
              <a:cs typeface="IBM Plex Sans" charset="0"/>
            </a:endParaRPr>
          </a:p>
        </p:txBody>
      </p:sp>
      <p:sp>
        <p:nvSpPr>
          <p:cNvPr id="13" name="Text 11"/>
          <p:cNvSpPr/>
          <p:nvPr/>
        </p:nvSpPr>
        <p:spPr>
          <a:xfrm>
            <a:off x="3731222" y="2726457"/>
            <a:ext cx="2104772" cy="360644"/>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E6676"/>
                </a:solidFill>
                <a:latin typeface="Space Grotesk" pitchFamily="34" charset="0"/>
                <a:ea typeface="Space Grotesk" pitchFamily="34" charset="-122"/>
                <a:cs typeface="Space Grotesk" pitchFamily="34" charset="-120"/>
              </a:rPr>
              <a:t>0.101</a:t>
            </a:r>
            <a:endParaRPr lang="en-US" sz="2400" dirty="0">
              <a:latin typeface="Space Grotesk" charset="0"/>
              <a:ea typeface="Space Grotesk" charset="0"/>
              <a:cs typeface="Space Grotesk" charset="0"/>
            </a:endParaRPr>
          </a:p>
        </p:txBody>
      </p:sp>
      <p:sp>
        <p:nvSpPr>
          <p:cNvPr id="14" name="Text 12"/>
          <p:cNvSpPr/>
          <p:nvPr/>
        </p:nvSpPr>
        <p:spPr>
          <a:xfrm>
            <a:off x="3731222" y="31251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Our tree</a:t>
            </a:r>
            <a:endParaRPr lang="en-US" sz="1200" dirty="0">
              <a:latin typeface="IBM Plex Sans" charset="0"/>
              <a:ea typeface="IBM Plex Sans" charset="0"/>
              <a:cs typeface="IBM Plex Sans" charset="0"/>
            </a:endParaRPr>
          </a:p>
        </p:txBody>
      </p:sp>
      <p:sp>
        <p:nvSpPr>
          <p:cNvPr id="15" name="Text 13"/>
          <p:cNvSpPr/>
          <p:nvPr/>
        </p:nvSpPr>
        <p:spPr>
          <a:xfrm>
            <a:off x="3731222" y="3401957"/>
            <a:ext cx="2104772" cy="612077"/>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F5FA8"/>
                </a:solidFill>
                <a:latin typeface="Space Grotesk" pitchFamily="34" charset="0"/>
                <a:ea typeface="Space Grotesk" pitchFamily="34" charset="-122"/>
                <a:cs typeface="Space Grotesk" pitchFamily="34" charset="-120"/>
              </a:rPr>
              <a:t>0.827</a:t>
            </a:r>
            <a:endParaRPr lang="en-US" sz="4400" dirty="0">
              <a:latin typeface="Space Grotesk" charset="0"/>
              <a:ea typeface="Space Grotesk" charset="0"/>
              <a:cs typeface="Space Grotesk" charset="0"/>
            </a:endParaRPr>
          </a:p>
        </p:txBody>
      </p:sp>
      <p:sp>
        <p:nvSpPr>
          <p:cNvPr id="16" name="Shape 14"/>
          <p:cNvSpPr/>
          <p:nvPr/>
        </p:nvSpPr>
        <p:spPr>
          <a:xfrm>
            <a:off x="6188044" y="1908008"/>
            <a:ext cx="2501943" cy="2309866"/>
          </a:xfrm>
          <a:prstGeom prst="roundRect">
            <a:avLst>
              <a:gd name="adj" fmla="val 4261"/>
            </a:avLst>
          </a:prstGeom>
          <a:solidFill>
            <a:srgbClr val="FCFBF8"/>
          </a:solidFill>
          <a:ln w="6350">
            <a:solidFill>
              <a:srgbClr val="E2DED4"/>
            </a:solidFill>
            <a:prstDash val="solid"/>
          </a:ln>
        </p:spPr>
      </p:sp>
      <p:sp>
        <p:nvSpPr>
          <p:cNvPr id="17" name="Text 15"/>
          <p:cNvSpPr/>
          <p:nvPr/>
        </p:nvSpPr>
        <p:spPr>
          <a:xfrm>
            <a:off x="6417282" y="2137246"/>
            <a:ext cx="2104772"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MCC</a:t>
            </a:r>
            <a:endParaRPr lang="en-US" sz="1400" dirty="0">
              <a:latin typeface="IBM Plex Sans" charset="0"/>
              <a:ea typeface="IBM Plex Sans" charset="0"/>
              <a:cs typeface="IBM Plex Sans" charset="0"/>
            </a:endParaRPr>
          </a:p>
        </p:txBody>
      </p:sp>
      <p:sp>
        <p:nvSpPr>
          <p:cNvPr id="18" name="Text 16"/>
          <p:cNvSpPr/>
          <p:nvPr/>
        </p:nvSpPr>
        <p:spPr>
          <a:xfrm>
            <a:off x="6417282" y="24496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Article’s tree</a:t>
            </a:r>
            <a:endParaRPr lang="en-US" sz="1200" dirty="0">
              <a:latin typeface="IBM Plex Sans" charset="0"/>
              <a:ea typeface="IBM Plex Sans" charset="0"/>
              <a:cs typeface="IBM Plex Sans" charset="0"/>
            </a:endParaRPr>
          </a:p>
        </p:txBody>
      </p:sp>
      <p:sp>
        <p:nvSpPr>
          <p:cNvPr id="19" name="Text 17"/>
          <p:cNvSpPr/>
          <p:nvPr/>
        </p:nvSpPr>
        <p:spPr>
          <a:xfrm>
            <a:off x="6417282" y="2726457"/>
            <a:ext cx="2104772" cy="360644"/>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E6676"/>
                </a:solidFill>
                <a:latin typeface="Space Grotesk" pitchFamily="34" charset="0"/>
                <a:ea typeface="Space Grotesk" pitchFamily="34" charset="-122"/>
                <a:cs typeface="Space Grotesk" pitchFamily="34" charset="-120"/>
              </a:rPr>
              <a:t>0.127</a:t>
            </a:r>
            <a:endParaRPr lang="en-US" sz="2400" dirty="0">
              <a:latin typeface="Space Grotesk" charset="0"/>
              <a:ea typeface="Space Grotesk" charset="0"/>
              <a:cs typeface="Space Grotesk" charset="0"/>
            </a:endParaRPr>
          </a:p>
        </p:txBody>
      </p:sp>
      <p:sp>
        <p:nvSpPr>
          <p:cNvPr id="20" name="Text 18"/>
          <p:cNvSpPr/>
          <p:nvPr/>
        </p:nvSpPr>
        <p:spPr>
          <a:xfrm>
            <a:off x="6417282" y="31251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Our tree</a:t>
            </a:r>
            <a:endParaRPr lang="en-US" sz="1200" dirty="0">
              <a:latin typeface="IBM Plex Sans" charset="0"/>
              <a:ea typeface="IBM Plex Sans" charset="0"/>
              <a:cs typeface="IBM Plex Sans" charset="0"/>
            </a:endParaRPr>
          </a:p>
        </p:txBody>
      </p:sp>
      <p:sp>
        <p:nvSpPr>
          <p:cNvPr id="21" name="Text 19"/>
          <p:cNvSpPr/>
          <p:nvPr/>
        </p:nvSpPr>
        <p:spPr>
          <a:xfrm>
            <a:off x="6417282" y="3401957"/>
            <a:ext cx="2104772" cy="612077"/>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F5FA8"/>
                </a:solidFill>
                <a:latin typeface="Space Grotesk" pitchFamily="34" charset="0"/>
                <a:ea typeface="Space Grotesk" pitchFamily="34" charset="-122"/>
                <a:cs typeface="Space Grotesk" pitchFamily="34" charset="-120"/>
              </a:rPr>
              <a:t>0.429</a:t>
            </a:r>
            <a:endParaRPr lang="en-US" sz="4400" dirty="0">
              <a:latin typeface="Space Grotesk" charset="0"/>
              <a:ea typeface="Space Grotesk" charset="0"/>
              <a:cs typeface="Space Grotesk" charset="0"/>
            </a:endParaRPr>
          </a:p>
        </p:txBody>
      </p:sp>
      <p:sp>
        <p:nvSpPr>
          <p:cNvPr id="22" name="Shape 20"/>
          <p:cNvSpPr/>
          <p:nvPr/>
        </p:nvSpPr>
        <p:spPr>
          <a:xfrm>
            <a:off x="8874104" y="1908008"/>
            <a:ext cx="2501943" cy="2309866"/>
          </a:xfrm>
          <a:prstGeom prst="roundRect">
            <a:avLst>
              <a:gd name="adj" fmla="val 4261"/>
            </a:avLst>
          </a:prstGeom>
          <a:solidFill>
            <a:srgbClr val="FCFBF8"/>
          </a:solidFill>
          <a:ln w="6350">
            <a:solidFill>
              <a:srgbClr val="E2DED4"/>
            </a:solidFill>
            <a:prstDash val="solid"/>
          </a:ln>
        </p:spPr>
      </p:sp>
      <p:sp>
        <p:nvSpPr>
          <p:cNvPr id="23" name="Text 21"/>
          <p:cNvSpPr/>
          <p:nvPr/>
        </p:nvSpPr>
        <p:spPr>
          <a:xfrm>
            <a:off x="9103342" y="2137246"/>
            <a:ext cx="2104772"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PR-AUC</a:t>
            </a:r>
            <a:endParaRPr lang="en-US" sz="1400" dirty="0">
              <a:latin typeface="IBM Plex Sans" charset="0"/>
              <a:ea typeface="IBM Plex Sans" charset="0"/>
              <a:cs typeface="IBM Plex Sans" charset="0"/>
            </a:endParaRPr>
          </a:p>
        </p:txBody>
      </p:sp>
      <p:sp>
        <p:nvSpPr>
          <p:cNvPr id="24" name="Text 22"/>
          <p:cNvSpPr/>
          <p:nvPr/>
        </p:nvSpPr>
        <p:spPr>
          <a:xfrm>
            <a:off x="9103342" y="24496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Article’s tree</a:t>
            </a:r>
            <a:endParaRPr lang="en-US" sz="1200" dirty="0">
              <a:latin typeface="IBM Plex Sans" charset="0"/>
              <a:ea typeface="IBM Plex Sans" charset="0"/>
              <a:cs typeface="IBM Plex Sans" charset="0"/>
            </a:endParaRPr>
          </a:p>
        </p:txBody>
      </p:sp>
      <p:sp>
        <p:nvSpPr>
          <p:cNvPr id="25" name="Text 23"/>
          <p:cNvSpPr/>
          <p:nvPr/>
        </p:nvSpPr>
        <p:spPr>
          <a:xfrm>
            <a:off x="9103342" y="2726457"/>
            <a:ext cx="2104772" cy="360644"/>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E6676"/>
                </a:solidFill>
                <a:latin typeface="Space Grotesk" pitchFamily="34" charset="0"/>
                <a:ea typeface="Space Grotesk" pitchFamily="34" charset="-122"/>
                <a:cs typeface="Space Grotesk" pitchFamily="34" charset="-120"/>
              </a:rPr>
              <a:t>0.452</a:t>
            </a:r>
            <a:endParaRPr lang="en-US" sz="2400" dirty="0">
              <a:latin typeface="Space Grotesk" charset="0"/>
              <a:ea typeface="Space Grotesk" charset="0"/>
              <a:cs typeface="Space Grotesk" charset="0"/>
            </a:endParaRPr>
          </a:p>
        </p:txBody>
      </p:sp>
      <p:sp>
        <p:nvSpPr>
          <p:cNvPr id="26" name="Text 24"/>
          <p:cNvSpPr/>
          <p:nvPr/>
        </p:nvSpPr>
        <p:spPr>
          <a:xfrm>
            <a:off x="9103342" y="3125161"/>
            <a:ext cx="2104772"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A8"/>
                </a:solidFill>
                <a:latin typeface="IBM Plex Sans" pitchFamily="34" charset="0"/>
                <a:ea typeface="IBM Plex Sans" pitchFamily="34" charset="-122"/>
                <a:cs typeface="IBM Plex Sans" pitchFamily="34" charset="-120"/>
              </a:rPr>
              <a:t>Our tree</a:t>
            </a:r>
            <a:endParaRPr lang="en-US" sz="1200" dirty="0">
              <a:latin typeface="IBM Plex Sans" charset="0"/>
              <a:ea typeface="IBM Plex Sans" charset="0"/>
              <a:cs typeface="IBM Plex Sans" charset="0"/>
            </a:endParaRPr>
          </a:p>
        </p:txBody>
      </p:sp>
      <p:sp>
        <p:nvSpPr>
          <p:cNvPr id="27" name="Text 25"/>
          <p:cNvSpPr/>
          <p:nvPr/>
        </p:nvSpPr>
        <p:spPr>
          <a:xfrm>
            <a:off x="9103342" y="3401957"/>
            <a:ext cx="2104772" cy="612077"/>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F5FA8"/>
                </a:solidFill>
                <a:latin typeface="Space Grotesk" pitchFamily="34" charset="0"/>
                <a:ea typeface="Space Grotesk" pitchFamily="34" charset="-122"/>
                <a:cs typeface="Space Grotesk" pitchFamily="34" charset="-120"/>
              </a:rPr>
              <a:t>0.609</a:t>
            </a:r>
            <a:endParaRPr lang="en-US" sz="4400" dirty="0">
              <a:latin typeface="Space Grotesk" charset="0"/>
              <a:ea typeface="Space Grotesk" charset="0"/>
              <a:cs typeface="Space Grotesk" charset="0"/>
            </a:endParaRPr>
          </a:p>
        </p:txBody>
      </p:sp>
      <p:sp>
        <p:nvSpPr>
          <p:cNvPr id="28" name="Text 26"/>
          <p:cNvSpPr/>
          <p:nvPr/>
        </p:nvSpPr>
        <p:spPr>
          <a:xfrm>
            <a:off x="812750" y="4576638"/>
            <a:ext cx="10883467" cy="5041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B4454"/>
                </a:solidFill>
                <a:latin typeface="IBM Plex Sans" pitchFamily="34" charset="0"/>
                <a:ea typeface="IBM Plex Sans" pitchFamily="34" charset="-122"/>
                <a:cs typeface="IBM Plex Sans" pitchFamily="34" charset="-120"/>
              </a:rPr>
              <a:t>Locked test set: 9,900 events, 3,079 of them leaks, never used in training. Article’s tree = our rebuild of its model (entropy, depth 3, one-hot as the article states, threshold 0.5). MCC: 0 = guessing, 1 = perfect.</a:t>
            </a:r>
            <a:endParaRPr lang="en-US" sz="1300" dirty="0">
              <a:latin typeface="IBM Plex Sans" charset="0"/>
              <a:ea typeface="IBM Plex Sans" charset="0"/>
              <a:cs typeface="IBM Plex Sans" charset="0"/>
            </a:endParaRPr>
          </a:p>
        </p:txBody>
      </p:sp>
      <p:sp>
        <p:nvSpPr>
          <p:cNvPr id="29" name="Text 27"/>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30" name="Text 28"/>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09</a:t>
            </a:r>
            <a:endParaRPr lang="en-US" sz="1200" dirty="0">
              <a:latin typeface="IBM Plex Sans" charset="0"/>
              <a:ea typeface="IBM Plex Sans" charset="0"/>
              <a:cs typeface="IBM Plex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05 · RESULTS ON THE TEST SET</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1"/>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The price: more alerts to review</a:t>
            </a:r>
            <a:endParaRPr lang="en-US" sz="3200" dirty="0">
              <a:latin typeface="Space Grotesk" charset="0"/>
              <a:ea typeface="Space Grotesk" charset="0"/>
              <a:cs typeface="Space Grotesk" charset="0"/>
            </a:endParaRPr>
          </a:p>
        </p:txBody>
      </p:sp>
      <p:sp>
        <p:nvSpPr>
          <p:cNvPr id="4" name="Text 2"/>
          <p:cNvSpPr/>
          <p:nvPr/>
        </p:nvSpPr>
        <p:spPr>
          <a:xfrm>
            <a:off x="2330675" y="1904826"/>
            <a:ext cx="2158321" cy="238732"/>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E6676"/>
                </a:solidFill>
                <a:latin typeface="IBM Plex Sans" pitchFamily="34" charset="0"/>
                <a:ea typeface="IBM Plex Sans" pitchFamily="34" charset="-122"/>
                <a:cs typeface="IBM Plex Sans" pitchFamily="34" charset="-120"/>
              </a:rPr>
              <a:t>PREDICTED NORMAL</a:t>
            </a:r>
            <a:endParaRPr lang="en-US" sz="1200" dirty="0">
              <a:latin typeface="IBM Plex Sans" charset="0"/>
              <a:ea typeface="IBM Plex Sans" charset="0"/>
              <a:cs typeface="IBM Plex Sans" charset="0"/>
            </a:endParaRPr>
          </a:p>
        </p:txBody>
      </p:sp>
      <p:sp>
        <p:nvSpPr>
          <p:cNvPr id="5" name="Text 3"/>
          <p:cNvSpPr/>
          <p:nvPr/>
        </p:nvSpPr>
        <p:spPr>
          <a:xfrm>
            <a:off x="4515016" y="1904826"/>
            <a:ext cx="2158321" cy="238732"/>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E6676"/>
                </a:solidFill>
                <a:latin typeface="IBM Plex Sans" pitchFamily="34" charset="0"/>
                <a:ea typeface="IBM Plex Sans" pitchFamily="34" charset="-122"/>
                <a:cs typeface="IBM Plex Sans" pitchFamily="34" charset="-120"/>
              </a:rPr>
              <a:t>PREDICTED LEAK</a:t>
            </a:r>
            <a:endParaRPr lang="en-US" sz="1200" dirty="0">
              <a:latin typeface="IBM Plex Sans" charset="0"/>
              <a:ea typeface="IBM Plex Sans" charset="0"/>
              <a:cs typeface="IBM Plex Sans" charset="0"/>
            </a:endParaRPr>
          </a:p>
        </p:txBody>
      </p:sp>
      <p:sp>
        <p:nvSpPr>
          <p:cNvPr id="6" name="Text 4"/>
          <p:cNvSpPr/>
          <p:nvPr/>
        </p:nvSpPr>
        <p:spPr>
          <a:xfrm>
            <a:off x="812750" y="2571452"/>
            <a:ext cx="1511274"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Actual normal</a:t>
            </a:r>
            <a:endParaRPr lang="en-US" sz="1300" dirty="0">
              <a:latin typeface="IBM Plex Sans" charset="0"/>
              <a:ea typeface="IBM Plex Sans" charset="0"/>
              <a:cs typeface="IBM Plex Sans" charset="0"/>
            </a:endParaRPr>
          </a:p>
        </p:txBody>
      </p:sp>
      <p:sp>
        <p:nvSpPr>
          <p:cNvPr id="7" name="Shape 5"/>
          <p:cNvSpPr/>
          <p:nvPr/>
        </p:nvSpPr>
        <p:spPr>
          <a:xfrm>
            <a:off x="2362107" y="2207040"/>
            <a:ext cx="2095458" cy="959963"/>
          </a:xfrm>
          <a:prstGeom prst="roundRect">
            <a:avLst>
              <a:gd name="adj" fmla="val 7938"/>
            </a:avLst>
          </a:prstGeom>
          <a:solidFill>
            <a:srgbClr val="E1EBF7"/>
          </a:solidFill>
          <a:ln/>
        </p:spPr>
      </p:sp>
      <p:sp>
        <p:nvSpPr>
          <p:cNvPr id="8" name="Text 6"/>
          <p:cNvSpPr/>
          <p:nvPr/>
        </p:nvSpPr>
        <p:spPr>
          <a:xfrm>
            <a:off x="2820127" y="2372128"/>
            <a:ext cx="1179417" cy="416498"/>
          </a:xfrm>
          <a:prstGeom prst="rect">
            <a:avLst/>
          </a:prstGeom>
          <a:noFill/>
          <a:ln/>
        </p:spPr>
        <p:txBody>
          <a:bodyPr wrap="square" lIns="0" tIns="0" rIns="0" bIns="0" rtlCol="0" anchor="t">
            <a:normAutofit/>
          </a:bodyPr>
          <a:lstStyle/>
          <a:p>
            <a:pPr algn="ctr" indent="0" marL="0">
              <a:lnSpc>
                <a:spcPts val="3080"/>
              </a:lnSpc>
              <a:buNone/>
            </a:pPr>
            <a:r>
              <a:rPr lang="en-US" sz="2800" b="1" dirty="0">
                <a:solidFill>
                  <a:srgbClr val="14213D"/>
                </a:solidFill>
                <a:latin typeface="Space Grotesk" pitchFamily="34" charset="0"/>
                <a:ea typeface="Space Grotesk" pitchFamily="34" charset="-122"/>
                <a:cs typeface="Space Grotesk" pitchFamily="34" charset="-120"/>
              </a:rPr>
              <a:t>4,339</a:t>
            </a:r>
            <a:endParaRPr lang="en-US" sz="2800" dirty="0">
              <a:latin typeface="Space Grotesk" charset="0"/>
              <a:ea typeface="Space Grotesk" charset="0"/>
              <a:cs typeface="Space Grotesk" charset="0"/>
            </a:endParaRPr>
          </a:p>
        </p:txBody>
      </p:sp>
      <p:sp>
        <p:nvSpPr>
          <p:cNvPr id="9" name="Text 7"/>
          <p:cNvSpPr/>
          <p:nvPr/>
        </p:nvSpPr>
        <p:spPr>
          <a:xfrm>
            <a:off x="2641733" y="2788586"/>
            <a:ext cx="1536206" cy="23873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correctly left alone</a:t>
            </a:r>
            <a:endParaRPr lang="en-US" sz="1200" dirty="0">
              <a:latin typeface="IBM Plex Sans" charset="0"/>
              <a:ea typeface="IBM Plex Sans" charset="0"/>
              <a:cs typeface="IBM Plex Sans" charset="0"/>
            </a:endParaRPr>
          </a:p>
        </p:txBody>
      </p:sp>
      <p:sp>
        <p:nvSpPr>
          <p:cNvPr id="10" name="Shape 8"/>
          <p:cNvSpPr/>
          <p:nvPr/>
        </p:nvSpPr>
        <p:spPr>
          <a:xfrm>
            <a:off x="4546448" y="2207040"/>
            <a:ext cx="2095458" cy="959963"/>
          </a:xfrm>
          <a:prstGeom prst="roundRect">
            <a:avLst>
              <a:gd name="adj" fmla="val 7938"/>
            </a:avLst>
          </a:prstGeom>
          <a:solidFill>
            <a:srgbClr val="FBE3D2"/>
          </a:solidFill>
          <a:ln/>
        </p:spPr>
      </p:sp>
      <p:sp>
        <p:nvSpPr>
          <p:cNvPr id="11" name="Text 9"/>
          <p:cNvSpPr/>
          <p:nvPr/>
        </p:nvSpPr>
        <p:spPr>
          <a:xfrm>
            <a:off x="5014256" y="2372128"/>
            <a:ext cx="1159781" cy="416498"/>
          </a:xfrm>
          <a:prstGeom prst="rect">
            <a:avLst/>
          </a:prstGeom>
          <a:noFill/>
          <a:ln/>
        </p:spPr>
        <p:txBody>
          <a:bodyPr wrap="square" lIns="0" tIns="0" rIns="0" bIns="0" rtlCol="0" anchor="t">
            <a:normAutofit/>
          </a:bodyPr>
          <a:lstStyle/>
          <a:p>
            <a:pPr algn="ctr" indent="0" marL="0">
              <a:lnSpc>
                <a:spcPts val="3080"/>
              </a:lnSpc>
              <a:buNone/>
            </a:pPr>
            <a:r>
              <a:rPr lang="en-US" sz="2800" b="1" dirty="0">
                <a:solidFill>
                  <a:srgbClr val="8F3E12"/>
                </a:solidFill>
                <a:latin typeface="Space Grotesk" pitchFamily="34" charset="0"/>
                <a:ea typeface="Space Grotesk" pitchFamily="34" charset="-122"/>
                <a:cs typeface="Space Grotesk" pitchFamily="34" charset="-120"/>
              </a:rPr>
              <a:t>2,482</a:t>
            </a:r>
            <a:endParaRPr lang="en-US" sz="2800" dirty="0">
              <a:latin typeface="Space Grotesk" charset="0"/>
              <a:ea typeface="Space Grotesk" charset="0"/>
              <a:cs typeface="Space Grotesk" charset="0"/>
            </a:endParaRPr>
          </a:p>
        </p:txBody>
      </p:sp>
      <p:sp>
        <p:nvSpPr>
          <p:cNvPr id="12" name="Text 10"/>
          <p:cNvSpPr/>
          <p:nvPr/>
        </p:nvSpPr>
        <p:spPr>
          <a:xfrm>
            <a:off x="5094106" y="2788586"/>
            <a:ext cx="1000081" cy="23873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false alarms</a:t>
            </a:r>
            <a:endParaRPr lang="en-US" sz="1200" dirty="0">
              <a:latin typeface="IBM Plex Sans" charset="0"/>
              <a:ea typeface="IBM Plex Sans" charset="0"/>
              <a:cs typeface="IBM Plex Sans" charset="0"/>
            </a:endParaRPr>
          </a:p>
        </p:txBody>
      </p:sp>
      <p:sp>
        <p:nvSpPr>
          <p:cNvPr id="13" name="Text 11"/>
          <p:cNvSpPr/>
          <p:nvPr/>
        </p:nvSpPr>
        <p:spPr>
          <a:xfrm>
            <a:off x="812750" y="3620300"/>
            <a:ext cx="1511274"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Actual leak</a:t>
            </a:r>
            <a:endParaRPr lang="en-US" sz="1300" dirty="0">
              <a:latin typeface="IBM Plex Sans" charset="0"/>
              <a:ea typeface="IBM Plex Sans" charset="0"/>
              <a:cs typeface="IBM Plex Sans" charset="0"/>
            </a:endParaRPr>
          </a:p>
        </p:txBody>
      </p:sp>
      <p:sp>
        <p:nvSpPr>
          <p:cNvPr id="14" name="Shape 12"/>
          <p:cNvSpPr/>
          <p:nvPr/>
        </p:nvSpPr>
        <p:spPr>
          <a:xfrm>
            <a:off x="2362107" y="3255888"/>
            <a:ext cx="2095458" cy="959963"/>
          </a:xfrm>
          <a:prstGeom prst="roundRect">
            <a:avLst>
              <a:gd name="adj" fmla="val 7938"/>
            </a:avLst>
          </a:prstGeom>
          <a:solidFill>
            <a:srgbClr val="FBE3D2"/>
          </a:solidFill>
          <a:ln/>
        </p:spPr>
      </p:sp>
      <p:sp>
        <p:nvSpPr>
          <p:cNvPr id="15" name="Text 13"/>
          <p:cNvSpPr/>
          <p:nvPr/>
        </p:nvSpPr>
        <p:spPr>
          <a:xfrm>
            <a:off x="3025338" y="3420976"/>
            <a:ext cx="768936" cy="416498"/>
          </a:xfrm>
          <a:prstGeom prst="rect">
            <a:avLst/>
          </a:prstGeom>
          <a:noFill/>
          <a:ln/>
        </p:spPr>
        <p:txBody>
          <a:bodyPr wrap="square" lIns="0" tIns="0" rIns="0" bIns="0" rtlCol="0" anchor="t">
            <a:normAutofit/>
          </a:bodyPr>
          <a:lstStyle/>
          <a:p>
            <a:pPr algn="ctr" indent="0" marL="0">
              <a:lnSpc>
                <a:spcPts val="3080"/>
              </a:lnSpc>
              <a:buNone/>
            </a:pPr>
            <a:r>
              <a:rPr lang="en-US" sz="2800" b="1" dirty="0">
                <a:solidFill>
                  <a:srgbClr val="8F3E12"/>
                </a:solidFill>
                <a:latin typeface="Space Grotesk" pitchFamily="34" charset="0"/>
                <a:ea typeface="Space Grotesk" pitchFamily="34" charset="-122"/>
                <a:cs typeface="Space Grotesk" pitchFamily="34" charset="-120"/>
              </a:rPr>
              <a:t>532</a:t>
            </a:r>
            <a:endParaRPr lang="en-US" sz="2800" dirty="0">
              <a:latin typeface="Space Grotesk" charset="0"/>
              <a:ea typeface="Space Grotesk" charset="0"/>
              <a:cs typeface="Space Grotesk" charset="0"/>
            </a:endParaRPr>
          </a:p>
        </p:txBody>
      </p:sp>
      <p:sp>
        <p:nvSpPr>
          <p:cNvPr id="16" name="Text 14"/>
          <p:cNvSpPr/>
          <p:nvPr/>
        </p:nvSpPr>
        <p:spPr>
          <a:xfrm>
            <a:off x="2878167" y="3837434"/>
            <a:ext cx="1063338" cy="23873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missed leaks</a:t>
            </a:r>
            <a:endParaRPr lang="en-US" sz="1200" dirty="0">
              <a:latin typeface="IBM Plex Sans" charset="0"/>
              <a:ea typeface="IBM Plex Sans" charset="0"/>
              <a:cs typeface="IBM Plex Sans" charset="0"/>
            </a:endParaRPr>
          </a:p>
        </p:txBody>
      </p:sp>
      <p:sp>
        <p:nvSpPr>
          <p:cNvPr id="17" name="Shape 15"/>
          <p:cNvSpPr/>
          <p:nvPr/>
        </p:nvSpPr>
        <p:spPr>
          <a:xfrm>
            <a:off x="4546448" y="3255888"/>
            <a:ext cx="2095458" cy="959963"/>
          </a:xfrm>
          <a:prstGeom prst="roundRect">
            <a:avLst>
              <a:gd name="adj" fmla="val 7938"/>
            </a:avLst>
          </a:prstGeom>
          <a:solidFill>
            <a:srgbClr val="E1EBF7"/>
          </a:solidFill>
          <a:ln/>
        </p:spPr>
      </p:sp>
      <p:sp>
        <p:nvSpPr>
          <p:cNvPr id="18" name="Text 16"/>
          <p:cNvSpPr/>
          <p:nvPr/>
        </p:nvSpPr>
        <p:spPr>
          <a:xfrm>
            <a:off x="5031785" y="3420976"/>
            <a:ext cx="1124783" cy="416498"/>
          </a:xfrm>
          <a:prstGeom prst="rect">
            <a:avLst/>
          </a:prstGeom>
          <a:noFill/>
          <a:ln/>
        </p:spPr>
        <p:txBody>
          <a:bodyPr wrap="square" lIns="0" tIns="0" rIns="0" bIns="0" rtlCol="0" anchor="t">
            <a:normAutofit/>
          </a:bodyPr>
          <a:lstStyle/>
          <a:p>
            <a:pPr algn="ctr" indent="0" marL="0">
              <a:lnSpc>
                <a:spcPts val="3080"/>
              </a:lnSpc>
              <a:buNone/>
            </a:pPr>
            <a:r>
              <a:rPr lang="en-US" sz="2800" b="1" dirty="0">
                <a:solidFill>
                  <a:srgbClr val="14213D"/>
                </a:solidFill>
                <a:latin typeface="Space Grotesk" pitchFamily="34" charset="0"/>
                <a:ea typeface="Space Grotesk" pitchFamily="34" charset="-122"/>
                <a:cs typeface="Space Grotesk" pitchFamily="34" charset="-120"/>
              </a:rPr>
              <a:t>2,547</a:t>
            </a:r>
            <a:endParaRPr lang="en-US" sz="2800" dirty="0">
              <a:latin typeface="Space Grotesk" charset="0"/>
              <a:ea typeface="Space Grotesk" charset="0"/>
              <a:cs typeface="Space Grotesk" charset="0"/>
            </a:endParaRPr>
          </a:p>
        </p:txBody>
      </p:sp>
      <p:sp>
        <p:nvSpPr>
          <p:cNvPr id="19" name="Text 17"/>
          <p:cNvSpPr/>
          <p:nvPr/>
        </p:nvSpPr>
        <p:spPr>
          <a:xfrm>
            <a:off x="5077869" y="3837434"/>
            <a:ext cx="1032615" cy="23873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leaks caught</a:t>
            </a:r>
            <a:endParaRPr lang="en-US" sz="1200" dirty="0">
              <a:latin typeface="IBM Plex Sans" charset="0"/>
              <a:ea typeface="IBM Plex Sans" charset="0"/>
              <a:cs typeface="IBM Plex Sans" charset="0"/>
            </a:endParaRPr>
          </a:p>
        </p:txBody>
      </p:sp>
      <p:sp>
        <p:nvSpPr>
          <p:cNvPr id="20" name="Shape 18"/>
          <p:cNvSpPr/>
          <p:nvPr/>
        </p:nvSpPr>
        <p:spPr>
          <a:xfrm>
            <a:off x="7099062" y="1911176"/>
            <a:ext cx="4280160" cy="0"/>
          </a:xfrm>
          <a:prstGeom prst="line">
            <a:avLst/>
          </a:prstGeom>
          <a:noFill/>
          <a:ln w="12700">
            <a:solidFill>
              <a:srgbClr val="D9D4C7"/>
            </a:solidFill>
            <a:prstDash val="solid"/>
          </a:ln>
        </p:spPr>
      </p:sp>
      <p:sp>
        <p:nvSpPr>
          <p:cNvPr id="21" name="Text 19"/>
          <p:cNvSpPr/>
          <p:nvPr/>
        </p:nvSpPr>
        <p:spPr>
          <a:xfrm>
            <a:off x="7099062" y="2030667"/>
            <a:ext cx="4408565" cy="416498"/>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B8521A"/>
                </a:solidFill>
                <a:latin typeface="Space Grotesk" pitchFamily="34" charset="0"/>
                <a:ea typeface="Space Grotesk" pitchFamily="34" charset="-122"/>
                <a:cs typeface="Space Grotesk" pitchFamily="34" charset="-120"/>
              </a:rPr>
              <a:t>51%</a:t>
            </a:r>
            <a:endParaRPr lang="en-US" sz="2800" dirty="0">
              <a:latin typeface="Space Grotesk" charset="0"/>
              <a:ea typeface="Space Grotesk" charset="0"/>
              <a:cs typeface="Space Grotesk" charset="0"/>
            </a:endParaRPr>
          </a:p>
        </p:txBody>
      </p:sp>
      <p:sp>
        <p:nvSpPr>
          <p:cNvPr id="22" name="Text 20"/>
          <p:cNvSpPr/>
          <p:nvPr/>
        </p:nvSpPr>
        <p:spPr>
          <a:xfrm>
            <a:off x="7099062" y="2447125"/>
            <a:ext cx="4408565"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of test events raise an alert (article’s tree: 5.7%)</a:t>
            </a:r>
            <a:endParaRPr lang="en-US" sz="1300" dirty="0">
              <a:latin typeface="IBM Plex Sans" charset="0"/>
              <a:ea typeface="IBM Plex Sans" charset="0"/>
              <a:cs typeface="IBM Plex Sans" charset="0"/>
            </a:endParaRPr>
          </a:p>
        </p:txBody>
      </p:sp>
      <p:sp>
        <p:nvSpPr>
          <p:cNvPr id="23" name="Shape 21"/>
          <p:cNvSpPr/>
          <p:nvPr/>
        </p:nvSpPr>
        <p:spPr>
          <a:xfrm>
            <a:off x="7099062" y="2887749"/>
            <a:ext cx="4280160" cy="0"/>
          </a:xfrm>
          <a:prstGeom prst="line">
            <a:avLst/>
          </a:prstGeom>
          <a:noFill/>
          <a:ln w="12700">
            <a:solidFill>
              <a:srgbClr val="D9D4C7"/>
            </a:solidFill>
            <a:prstDash val="solid"/>
          </a:ln>
        </p:spPr>
      </p:sp>
      <p:sp>
        <p:nvSpPr>
          <p:cNvPr id="24" name="Text 22"/>
          <p:cNvSpPr/>
          <p:nvPr/>
        </p:nvSpPr>
        <p:spPr>
          <a:xfrm>
            <a:off x="7099062" y="3007233"/>
            <a:ext cx="4408565" cy="416498"/>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Space Grotesk" pitchFamily="34" charset="0"/>
                <a:ea typeface="Space Grotesk" pitchFamily="34" charset="-122"/>
                <a:cs typeface="Space Grotesk" pitchFamily="34" charset="-120"/>
              </a:rPr>
              <a:t>0.507</a:t>
            </a:r>
            <a:endParaRPr lang="en-US" sz="2800" dirty="0">
              <a:latin typeface="Space Grotesk" charset="0"/>
              <a:ea typeface="Space Grotesk" charset="0"/>
              <a:cs typeface="Space Grotesk" charset="0"/>
            </a:endParaRPr>
          </a:p>
        </p:txBody>
      </p:sp>
      <p:sp>
        <p:nvSpPr>
          <p:cNvPr id="25" name="Text 23"/>
          <p:cNvSpPr/>
          <p:nvPr/>
        </p:nvSpPr>
        <p:spPr>
          <a:xfrm>
            <a:off x="7099062" y="3423692"/>
            <a:ext cx="4408565"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precision: about one alert in two is a real leak</a:t>
            </a:r>
            <a:endParaRPr lang="en-US" sz="1300" dirty="0">
              <a:latin typeface="IBM Plex Sans" charset="0"/>
              <a:ea typeface="IBM Plex Sans" charset="0"/>
              <a:cs typeface="IBM Plex Sans" charset="0"/>
            </a:endParaRPr>
          </a:p>
        </p:txBody>
      </p:sp>
      <p:sp>
        <p:nvSpPr>
          <p:cNvPr id="26" name="Shape 24"/>
          <p:cNvSpPr/>
          <p:nvPr/>
        </p:nvSpPr>
        <p:spPr>
          <a:xfrm>
            <a:off x="7099062" y="3864316"/>
            <a:ext cx="4280160" cy="0"/>
          </a:xfrm>
          <a:prstGeom prst="line">
            <a:avLst/>
          </a:prstGeom>
          <a:noFill/>
          <a:ln w="12700">
            <a:solidFill>
              <a:srgbClr val="D9D4C7"/>
            </a:solidFill>
            <a:prstDash val="solid"/>
          </a:ln>
        </p:spPr>
      </p:sp>
      <p:sp>
        <p:nvSpPr>
          <p:cNvPr id="27" name="Text 25"/>
          <p:cNvSpPr/>
          <p:nvPr/>
        </p:nvSpPr>
        <p:spPr>
          <a:xfrm>
            <a:off x="7099062" y="3983800"/>
            <a:ext cx="4408565" cy="416498"/>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Space Grotesk" pitchFamily="34" charset="0"/>
                <a:ea typeface="Space Grotesk" pitchFamily="34" charset="-122"/>
                <a:cs typeface="Space Grotesk" pitchFamily="34" charset="-120"/>
              </a:rPr>
              <a:t>≈ 0.70</a:t>
            </a:r>
            <a:endParaRPr lang="en-US" sz="2800" dirty="0">
              <a:latin typeface="Space Grotesk" charset="0"/>
              <a:ea typeface="Space Grotesk" charset="0"/>
              <a:cs typeface="Space Grotesk" charset="0"/>
            </a:endParaRPr>
          </a:p>
        </p:txBody>
      </p:sp>
      <p:sp>
        <p:nvSpPr>
          <p:cNvPr id="28" name="Text 26"/>
          <p:cNvSpPr/>
          <p:nvPr/>
        </p:nvSpPr>
        <p:spPr>
          <a:xfrm>
            <a:off x="7099062" y="4400259"/>
            <a:ext cx="4408565"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454"/>
                </a:solidFill>
                <a:latin typeface="IBM Plex Sans" pitchFamily="34" charset="0"/>
                <a:ea typeface="IBM Plex Sans" pitchFamily="34" charset="-122"/>
                <a:cs typeface="IBM Plex Sans" pitchFamily="34" charset="-120"/>
              </a:rPr>
              <a:t>accuracy of both trees: accuracy hides the difference that matters</a:t>
            </a:r>
            <a:endParaRPr lang="en-US" sz="1300" dirty="0">
              <a:latin typeface="IBM Plex Sans" charset="0"/>
              <a:ea typeface="IBM Plex Sans" charset="0"/>
              <a:cs typeface="IBM Plex Sans" charset="0"/>
            </a:endParaRPr>
          </a:p>
        </p:txBody>
      </p:sp>
      <p:sp>
        <p:nvSpPr>
          <p:cNvPr id="29" name="Text 27"/>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30" name="Text 28"/>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06 · EXPLAINING EACH ALERT</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7"/>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Every alert comes with its reason</a:t>
            </a:r>
            <a:endParaRPr lang="en-US" sz="3200" dirty="0">
              <a:latin typeface="Space Grotesk" charset="0"/>
              <a:ea typeface="Space Grotesk" charset="0"/>
              <a:cs typeface="Space Grotesk" charset="0"/>
            </a:endParaRPr>
          </a:p>
        </p:txBody>
      </p:sp>
      <p:sp>
        <p:nvSpPr>
          <p:cNvPr id="4" name="Shape 2"/>
          <p:cNvSpPr/>
          <p:nvPr/>
        </p:nvSpPr>
        <p:spPr>
          <a:xfrm>
            <a:off x="812750" y="1853989"/>
            <a:ext cx="5206973" cy="3086517"/>
          </a:xfrm>
          <a:prstGeom prst="roundRect">
            <a:avLst>
              <a:gd name="adj" fmla="val 3292"/>
            </a:avLst>
          </a:prstGeom>
          <a:solidFill>
            <a:srgbClr val="14213D"/>
          </a:solidFill>
          <a:ln/>
        </p:spPr>
      </p:sp>
      <p:sp>
        <p:nvSpPr>
          <p:cNvPr id="5" name="Text 3"/>
          <p:cNvSpPr/>
          <p:nvPr/>
        </p:nvSpPr>
        <p:spPr>
          <a:xfrm>
            <a:off x="1066719" y="2107958"/>
            <a:ext cx="4840006" cy="23873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0"/>
                </a:solidFill>
                <a:latin typeface="IBM Plex Sans" pitchFamily="34" charset="0"/>
                <a:ea typeface="IBM Plex Sans" pitchFamily="34" charset="-122"/>
                <a:cs typeface="IBM Plex Sans" pitchFamily="34" charset="-120"/>
              </a:rPr>
              <a:t>STRONGEST RULE IN THE FINAL TREE</a:t>
            </a:r>
            <a:endParaRPr lang="en-US" sz="1200" dirty="0">
              <a:latin typeface="IBM Plex Sans" charset="0"/>
              <a:ea typeface="IBM Plex Sans" charset="0"/>
              <a:cs typeface="IBM Plex Sans" charset="0"/>
            </a:endParaRPr>
          </a:p>
        </p:txBody>
      </p:sp>
      <p:sp>
        <p:nvSpPr>
          <p:cNvPr id="6" name="Text 4"/>
          <p:cNvSpPr/>
          <p:nvPr/>
        </p:nvSpPr>
        <p:spPr>
          <a:xfrm>
            <a:off x="1066719" y="2460898"/>
            <a:ext cx="4840006" cy="2812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5F3EE"/>
                </a:solidFill>
                <a:latin typeface="IBM Plex Mono" pitchFamily="49" charset="0"/>
                <a:ea typeface="IBM Plex Mono" pitchFamily="49" charset="-122"/>
                <a:cs typeface="IBM Plex Mono" pitchFamily="49" charset="-120"/>
              </a:rPr>
              <a:t>IF confidential file transfer = yes</a:t>
            </a:r>
            <a:endParaRPr lang="en-US" sz="1300" dirty="0">
              <a:latin typeface="IBM Plex Mono" charset="0"/>
              <a:ea typeface="IBM Plex Mono" charset="0"/>
              <a:cs typeface="IBM Plex Mono" charset="0"/>
            </a:endParaRPr>
          </a:p>
        </p:txBody>
      </p:sp>
      <p:sp>
        <p:nvSpPr>
          <p:cNvPr id="7" name="Text 5"/>
          <p:cNvSpPr/>
          <p:nvPr/>
        </p:nvSpPr>
        <p:spPr>
          <a:xfrm>
            <a:off x="1066719" y="2729415"/>
            <a:ext cx="4840006" cy="2812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5F3EE"/>
                </a:solidFill>
                <a:latin typeface="IBM Plex Mono" pitchFamily="49" charset="0"/>
                <a:ea typeface="IBM Plex Mono" pitchFamily="49" charset="-122"/>
                <a:cs typeface="IBM Plex Mono" pitchFamily="49" charset="-120"/>
              </a:rPr>
              <a:t>AND destination = external</a:t>
            </a:r>
            <a:endParaRPr lang="en-US" sz="1300" dirty="0">
              <a:latin typeface="IBM Plex Mono" charset="0"/>
              <a:ea typeface="IBM Plex Mono" charset="0"/>
              <a:cs typeface="IBM Plex Mono" charset="0"/>
            </a:endParaRPr>
          </a:p>
        </p:txBody>
      </p:sp>
      <p:sp>
        <p:nvSpPr>
          <p:cNvPr id="8" name="Text 6"/>
          <p:cNvSpPr/>
          <p:nvPr/>
        </p:nvSpPr>
        <p:spPr>
          <a:xfrm>
            <a:off x="1066719" y="2997938"/>
            <a:ext cx="4840006" cy="269225"/>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F3EE"/>
                </a:solidFill>
                <a:latin typeface="IBM Plex Mono" pitchFamily="49" charset="0"/>
                <a:ea typeface="IBM Plex Mono" pitchFamily="49" charset="-122"/>
                <a:cs typeface="IBM Plex Mono" pitchFamily="49" charset="-120"/>
              </a:rPr>
              <a:t>AND authority in {intern, senior manager, staff}</a:t>
            </a:r>
            <a:endParaRPr lang="en-US" sz="1200" dirty="0">
              <a:latin typeface="IBM Plex Mono" charset="0"/>
              <a:ea typeface="IBM Plex Mono" charset="0"/>
              <a:cs typeface="IBM Plex Mono" charset="0"/>
            </a:endParaRPr>
          </a:p>
        </p:txBody>
      </p:sp>
      <p:sp>
        <p:nvSpPr>
          <p:cNvPr id="9" name="Text 7"/>
          <p:cNvSpPr/>
          <p:nvPr/>
        </p:nvSpPr>
        <p:spPr>
          <a:xfrm>
            <a:off x="1066719" y="3254443"/>
            <a:ext cx="4840006" cy="2812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5F3EE"/>
                </a:solidFill>
                <a:latin typeface="IBM Plex Mono" pitchFamily="49" charset="0"/>
                <a:ea typeface="IBM Plex Mono" pitchFamily="49" charset="-122"/>
                <a:cs typeface="IBM Plex Mono" pitchFamily="49" charset="-120"/>
              </a:rPr>
              <a:t>AND password login = no</a:t>
            </a:r>
            <a:endParaRPr lang="en-US" sz="1300" dirty="0">
              <a:latin typeface="IBM Plex Mono" charset="0"/>
              <a:ea typeface="IBM Plex Mono" charset="0"/>
              <a:cs typeface="IBM Plex Mono" charset="0"/>
            </a:endParaRPr>
          </a:p>
        </p:txBody>
      </p:sp>
      <p:sp>
        <p:nvSpPr>
          <p:cNvPr id="10" name="Text 8"/>
          <p:cNvSpPr/>
          <p:nvPr/>
        </p:nvSpPr>
        <p:spPr>
          <a:xfrm>
            <a:off x="1066719" y="3522966"/>
            <a:ext cx="4840006" cy="2812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5F3EE"/>
                </a:solidFill>
                <a:latin typeface="IBM Plex Mono" pitchFamily="49" charset="0"/>
                <a:ea typeface="IBM Plex Mono" pitchFamily="49" charset="-122"/>
                <a:cs typeface="IBM Plex Mono" pitchFamily="49" charset="-120"/>
              </a:rPr>
              <a:t>AND sensitivity in {high, medium}</a:t>
            </a:r>
            <a:endParaRPr lang="en-US" sz="1300" dirty="0">
              <a:latin typeface="IBM Plex Mono" charset="0"/>
              <a:ea typeface="IBM Plex Mono" charset="0"/>
              <a:cs typeface="IBM Plex Mono" charset="0"/>
            </a:endParaRPr>
          </a:p>
        </p:txBody>
      </p:sp>
      <p:sp>
        <p:nvSpPr>
          <p:cNvPr id="11" name="Text 9"/>
          <p:cNvSpPr/>
          <p:nvPr/>
        </p:nvSpPr>
        <p:spPr>
          <a:xfrm>
            <a:off x="1066719" y="3791490"/>
            <a:ext cx="4840006" cy="2812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5F3EE"/>
                </a:solidFill>
                <a:latin typeface="IBM Plex Mono" pitchFamily="49" charset="0"/>
                <a:ea typeface="IBM Plex Mono" pitchFamily="49" charset="-122"/>
                <a:cs typeface="IBM Plex Mono" pitchFamily="49" charset="-120"/>
              </a:rPr>
              <a:t>AND hour between 00:00 and 02:59</a:t>
            </a:r>
            <a:endParaRPr lang="en-US" sz="1300" dirty="0">
              <a:latin typeface="IBM Plex Mono" charset="0"/>
              <a:ea typeface="IBM Plex Mono" charset="0"/>
              <a:cs typeface="IBM Plex Mono" charset="0"/>
            </a:endParaRPr>
          </a:p>
        </p:txBody>
      </p:sp>
      <p:sp>
        <p:nvSpPr>
          <p:cNvPr id="12" name="Text 10"/>
          <p:cNvSpPr/>
          <p:nvPr/>
        </p:nvSpPr>
        <p:spPr>
          <a:xfrm>
            <a:off x="1066719" y="4060006"/>
            <a:ext cx="4840006" cy="2812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0A060"/>
                </a:solidFill>
                <a:latin typeface="IBM Plex Mono" pitchFamily="49" charset="0"/>
                <a:ea typeface="IBM Plex Mono" pitchFamily="49" charset="-122"/>
                <a:cs typeface="IBM Plex Mono" pitchFamily="49" charset="-120"/>
              </a:rPr>
              <a:t>THEN leakage</a:t>
            </a:r>
            <a:endParaRPr lang="en-US" sz="1300" dirty="0">
              <a:latin typeface="IBM Plex Mono" charset="0"/>
              <a:ea typeface="IBM Plex Mono" charset="0"/>
              <a:cs typeface="IBM Plex Mono" charset="0"/>
            </a:endParaRPr>
          </a:p>
        </p:txBody>
      </p:sp>
      <p:sp>
        <p:nvSpPr>
          <p:cNvPr id="13" name="Text 11"/>
          <p:cNvSpPr/>
          <p:nvPr/>
        </p:nvSpPr>
        <p:spPr>
          <a:xfrm>
            <a:off x="1066719" y="4455455"/>
            <a:ext cx="4840006"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D6"/>
                </a:solidFill>
                <a:latin typeface="IBM Plex Sans" pitchFamily="34" charset="0"/>
                <a:ea typeface="IBM Plex Sans" pitchFamily="34" charset="-122"/>
                <a:cs typeface="IBM Plex Sans" pitchFamily="34" charset="-120"/>
              </a:rPr>
              <a:t>369 training events match this path; 61% of them are leaks.</a:t>
            </a:r>
            <a:endParaRPr lang="en-US" sz="1300" dirty="0">
              <a:latin typeface="IBM Plex Sans" charset="0"/>
              <a:ea typeface="IBM Plex Sans" charset="0"/>
              <a:cs typeface="IBM Plex Sans" charset="0"/>
            </a:endParaRPr>
          </a:p>
        </p:txBody>
      </p:sp>
      <p:sp>
        <p:nvSpPr>
          <p:cNvPr id="14" name="Text 12"/>
          <p:cNvSpPr/>
          <p:nvPr/>
        </p:nvSpPr>
        <p:spPr>
          <a:xfrm>
            <a:off x="6375316" y="1853989"/>
            <a:ext cx="5154024" cy="471024"/>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Attribute importance: drop in PR-AUC when the attribute is shuffled (test set)</a:t>
            </a:r>
            <a:endParaRPr lang="en-US" sz="1300" dirty="0">
              <a:latin typeface="IBM Plex Sans" charset="0"/>
              <a:ea typeface="IBM Plex Sans" charset="0"/>
              <a:cs typeface="IBM Plex Sans" charset="0"/>
            </a:endParaRPr>
          </a:p>
        </p:txBody>
      </p:sp>
      <p:sp>
        <p:nvSpPr>
          <p:cNvPr id="15" name="Text 13"/>
          <p:cNvSpPr/>
          <p:nvPr/>
        </p:nvSpPr>
        <p:spPr>
          <a:xfrm>
            <a:off x="6375316" y="2350393"/>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Confidential Data Access</a:t>
            </a:r>
            <a:endParaRPr lang="en-US" sz="1200" dirty="0">
              <a:latin typeface="IBM Plex Sans" charset="0"/>
              <a:ea typeface="IBM Plex Sans" charset="0"/>
              <a:cs typeface="IBM Plex Sans" charset="0"/>
            </a:endParaRPr>
          </a:p>
        </p:txBody>
      </p:sp>
      <p:sp>
        <p:nvSpPr>
          <p:cNvPr id="16" name="Shape 14"/>
          <p:cNvSpPr/>
          <p:nvPr/>
        </p:nvSpPr>
        <p:spPr>
          <a:xfrm>
            <a:off x="8673901" y="2374491"/>
            <a:ext cx="1777966" cy="165086"/>
          </a:xfrm>
          <a:prstGeom prst="roundRect">
            <a:avLst>
              <a:gd name="adj" fmla="val 11539"/>
            </a:avLst>
          </a:prstGeom>
          <a:solidFill>
            <a:srgbClr val="1F5FA8"/>
          </a:solidFill>
          <a:ln/>
        </p:spPr>
      </p:sp>
      <p:sp>
        <p:nvSpPr>
          <p:cNvPr id="17" name="Text 15"/>
          <p:cNvSpPr/>
          <p:nvPr/>
        </p:nvSpPr>
        <p:spPr>
          <a:xfrm>
            <a:off x="10528009" y="2350393"/>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0.134</a:t>
            </a:r>
            <a:endParaRPr lang="en-US" sz="1200" dirty="0">
              <a:latin typeface="IBM Plex Sans" charset="0"/>
              <a:ea typeface="IBM Plex Sans" charset="0"/>
              <a:cs typeface="IBM Plex Sans" charset="0"/>
            </a:endParaRPr>
          </a:p>
        </p:txBody>
      </p:sp>
      <p:sp>
        <p:nvSpPr>
          <p:cNvPr id="18" name="Text 16"/>
          <p:cNvSpPr/>
          <p:nvPr/>
        </p:nvSpPr>
        <p:spPr>
          <a:xfrm>
            <a:off x="6375316" y="2614507"/>
            <a:ext cx="2289116"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21A"/>
                </a:solidFill>
                <a:latin typeface="IBM Plex Sans" pitchFamily="34" charset="0"/>
                <a:ea typeface="IBM Plex Sans" pitchFamily="34" charset="-122"/>
                <a:cs typeface="IBM Plex Sans" pitchFamily="34" charset="-120"/>
              </a:rPr>
              <a:t>External Destination (new)</a:t>
            </a:r>
            <a:endParaRPr lang="en-US" sz="1200" dirty="0">
              <a:latin typeface="IBM Plex Sans" charset="0"/>
              <a:ea typeface="IBM Plex Sans" charset="0"/>
              <a:cs typeface="IBM Plex Sans" charset="0"/>
            </a:endParaRPr>
          </a:p>
        </p:txBody>
      </p:sp>
      <p:sp>
        <p:nvSpPr>
          <p:cNvPr id="19" name="Shape 17"/>
          <p:cNvSpPr/>
          <p:nvPr/>
        </p:nvSpPr>
        <p:spPr>
          <a:xfrm>
            <a:off x="8673901" y="2638605"/>
            <a:ext cx="1771626" cy="165086"/>
          </a:xfrm>
          <a:prstGeom prst="roundRect">
            <a:avLst>
              <a:gd name="adj" fmla="val 11539"/>
            </a:avLst>
          </a:prstGeom>
          <a:solidFill>
            <a:srgbClr val="E8833A"/>
          </a:solidFill>
          <a:ln/>
        </p:spPr>
      </p:sp>
      <p:sp>
        <p:nvSpPr>
          <p:cNvPr id="20" name="Text 18"/>
          <p:cNvSpPr/>
          <p:nvPr/>
        </p:nvSpPr>
        <p:spPr>
          <a:xfrm>
            <a:off x="10521669" y="2614507"/>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0.133</a:t>
            </a:r>
            <a:endParaRPr lang="en-US" sz="1200" dirty="0">
              <a:latin typeface="IBM Plex Sans" charset="0"/>
              <a:ea typeface="IBM Plex Sans" charset="0"/>
              <a:cs typeface="IBM Plex Sans" charset="0"/>
            </a:endParaRPr>
          </a:p>
        </p:txBody>
      </p:sp>
      <p:sp>
        <p:nvSpPr>
          <p:cNvPr id="21" name="Text 19"/>
          <p:cNvSpPr/>
          <p:nvPr/>
        </p:nvSpPr>
        <p:spPr>
          <a:xfrm>
            <a:off x="6375316" y="2878621"/>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Confidential File Transfer</a:t>
            </a:r>
            <a:endParaRPr lang="en-US" sz="1200" dirty="0">
              <a:latin typeface="IBM Plex Sans" charset="0"/>
              <a:ea typeface="IBM Plex Sans" charset="0"/>
              <a:cs typeface="IBM Plex Sans" charset="0"/>
            </a:endParaRPr>
          </a:p>
        </p:txBody>
      </p:sp>
      <p:sp>
        <p:nvSpPr>
          <p:cNvPr id="22" name="Shape 20"/>
          <p:cNvSpPr/>
          <p:nvPr/>
        </p:nvSpPr>
        <p:spPr>
          <a:xfrm>
            <a:off x="8673901" y="2902713"/>
            <a:ext cx="1454134" cy="165086"/>
          </a:xfrm>
          <a:prstGeom prst="roundRect">
            <a:avLst>
              <a:gd name="adj" fmla="val 11539"/>
            </a:avLst>
          </a:prstGeom>
          <a:solidFill>
            <a:srgbClr val="1F5FA8"/>
          </a:solidFill>
          <a:ln/>
        </p:spPr>
      </p:sp>
      <p:sp>
        <p:nvSpPr>
          <p:cNvPr id="23" name="Text 21"/>
          <p:cNvSpPr/>
          <p:nvPr/>
        </p:nvSpPr>
        <p:spPr>
          <a:xfrm>
            <a:off x="10204177" y="2878621"/>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0.109</a:t>
            </a:r>
            <a:endParaRPr lang="en-US" sz="1200" dirty="0">
              <a:latin typeface="IBM Plex Sans" charset="0"/>
              <a:ea typeface="IBM Plex Sans" charset="0"/>
              <a:cs typeface="IBM Plex Sans" charset="0"/>
            </a:endParaRPr>
          </a:p>
        </p:txBody>
      </p:sp>
      <p:sp>
        <p:nvSpPr>
          <p:cNvPr id="24" name="Text 22"/>
          <p:cNvSpPr/>
          <p:nvPr/>
        </p:nvSpPr>
        <p:spPr>
          <a:xfrm>
            <a:off x="6375316" y="3142735"/>
            <a:ext cx="2289116"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21A"/>
                </a:solidFill>
                <a:latin typeface="IBM Plex Sans" pitchFamily="34" charset="0"/>
                <a:ea typeface="IBM Plex Sans" pitchFamily="34" charset="-122"/>
                <a:cs typeface="IBM Plex Sans" pitchFamily="34" charset="-120"/>
              </a:rPr>
              <a:t>Hour (new)</a:t>
            </a:r>
            <a:endParaRPr lang="en-US" sz="1200" dirty="0">
              <a:latin typeface="IBM Plex Sans" charset="0"/>
              <a:ea typeface="IBM Plex Sans" charset="0"/>
              <a:cs typeface="IBM Plex Sans" charset="0"/>
            </a:endParaRPr>
          </a:p>
        </p:txBody>
      </p:sp>
      <p:sp>
        <p:nvSpPr>
          <p:cNvPr id="25" name="Shape 23"/>
          <p:cNvSpPr/>
          <p:nvPr/>
        </p:nvSpPr>
        <p:spPr>
          <a:xfrm>
            <a:off x="8673901" y="3166827"/>
            <a:ext cx="1371591" cy="165086"/>
          </a:xfrm>
          <a:prstGeom prst="roundRect">
            <a:avLst>
              <a:gd name="adj" fmla="val 11539"/>
            </a:avLst>
          </a:prstGeom>
          <a:solidFill>
            <a:srgbClr val="E8833A"/>
          </a:solidFill>
          <a:ln/>
        </p:spPr>
      </p:sp>
      <p:sp>
        <p:nvSpPr>
          <p:cNvPr id="26" name="Text 24"/>
          <p:cNvSpPr/>
          <p:nvPr/>
        </p:nvSpPr>
        <p:spPr>
          <a:xfrm>
            <a:off x="10121634" y="3142735"/>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0.103</a:t>
            </a:r>
            <a:endParaRPr lang="en-US" sz="1200" dirty="0">
              <a:latin typeface="IBM Plex Sans" charset="0"/>
              <a:ea typeface="IBM Plex Sans" charset="0"/>
              <a:cs typeface="IBM Plex Sans" charset="0"/>
            </a:endParaRPr>
          </a:p>
        </p:txBody>
      </p:sp>
      <p:sp>
        <p:nvSpPr>
          <p:cNvPr id="27" name="Text 25"/>
          <p:cNvSpPr/>
          <p:nvPr/>
        </p:nvSpPr>
        <p:spPr>
          <a:xfrm>
            <a:off x="6375316" y="3406849"/>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Through PIN</a:t>
            </a:r>
            <a:endParaRPr lang="en-US" sz="1200" dirty="0">
              <a:latin typeface="IBM Plex Sans" charset="0"/>
              <a:ea typeface="IBM Plex Sans" charset="0"/>
              <a:cs typeface="IBM Plex Sans" charset="0"/>
            </a:endParaRPr>
          </a:p>
        </p:txBody>
      </p:sp>
      <p:sp>
        <p:nvSpPr>
          <p:cNvPr id="28" name="Shape 26"/>
          <p:cNvSpPr/>
          <p:nvPr/>
        </p:nvSpPr>
        <p:spPr>
          <a:xfrm>
            <a:off x="8673901" y="3430941"/>
            <a:ext cx="730207" cy="165086"/>
          </a:xfrm>
          <a:prstGeom prst="roundRect">
            <a:avLst>
              <a:gd name="adj" fmla="val 11539"/>
            </a:avLst>
          </a:prstGeom>
          <a:solidFill>
            <a:srgbClr val="1F5FA8"/>
          </a:solidFill>
          <a:ln/>
        </p:spPr>
      </p:sp>
      <p:sp>
        <p:nvSpPr>
          <p:cNvPr id="29" name="Text 27"/>
          <p:cNvSpPr/>
          <p:nvPr/>
        </p:nvSpPr>
        <p:spPr>
          <a:xfrm>
            <a:off x="9480250" y="3406849"/>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0.055</a:t>
            </a:r>
            <a:endParaRPr lang="en-US" sz="1200" dirty="0">
              <a:latin typeface="IBM Plex Sans" charset="0"/>
              <a:ea typeface="IBM Plex Sans" charset="0"/>
              <a:cs typeface="IBM Plex Sans" charset="0"/>
            </a:endParaRPr>
          </a:p>
        </p:txBody>
      </p:sp>
      <p:sp>
        <p:nvSpPr>
          <p:cNvPr id="30" name="Text 28"/>
          <p:cNvSpPr/>
          <p:nvPr/>
        </p:nvSpPr>
        <p:spPr>
          <a:xfrm>
            <a:off x="6375316" y="3670964"/>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Through MFA</a:t>
            </a:r>
            <a:endParaRPr lang="en-US" sz="1200" dirty="0">
              <a:latin typeface="IBM Plex Sans" charset="0"/>
              <a:ea typeface="IBM Plex Sans" charset="0"/>
              <a:cs typeface="IBM Plex Sans" charset="0"/>
            </a:endParaRPr>
          </a:p>
        </p:txBody>
      </p:sp>
      <p:sp>
        <p:nvSpPr>
          <p:cNvPr id="31" name="Shape 29"/>
          <p:cNvSpPr/>
          <p:nvPr/>
        </p:nvSpPr>
        <p:spPr>
          <a:xfrm>
            <a:off x="8673901" y="3695055"/>
            <a:ext cx="698446" cy="165086"/>
          </a:xfrm>
          <a:prstGeom prst="roundRect">
            <a:avLst>
              <a:gd name="adj" fmla="val 11539"/>
            </a:avLst>
          </a:prstGeom>
          <a:solidFill>
            <a:srgbClr val="1F5FA8"/>
          </a:solidFill>
          <a:ln/>
        </p:spPr>
      </p:sp>
      <p:sp>
        <p:nvSpPr>
          <p:cNvPr id="32" name="Text 30"/>
          <p:cNvSpPr/>
          <p:nvPr/>
        </p:nvSpPr>
        <p:spPr>
          <a:xfrm>
            <a:off x="9448489" y="3670964"/>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0.053</a:t>
            </a:r>
            <a:endParaRPr lang="en-US" sz="1200" dirty="0">
              <a:latin typeface="IBM Plex Sans" charset="0"/>
              <a:ea typeface="IBM Plex Sans" charset="0"/>
              <a:cs typeface="IBM Plex Sans" charset="0"/>
            </a:endParaRPr>
          </a:p>
        </p:txBody>
      </p:sp>
      <p:sp>
        <p:nvSpPr>
          <p:cNvPr id="33" name="Text 31"/>
          <p:cNvSpPr/>
          <p:nvPr/>
        </p:nvSpPr>
        <p:spPr>
          <a:xfrm>
            <a:off x="6375316" y="3935078"/>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Through password</a:t>
            </a:r>
            <a:endParaRPr lang="en-US" sz="1200" dirty="0">
              <a:latin typeface="IBM Plex Sans" charset="0"/>
              <a:ea typeface="IBM Plex Sans" charset="0"/>
              <a:cs typeface="IBM Plex Sans" charset="0"/>
            </a:endParaRPr>
          </a:p>
        </p:txBody>
      </p:sp>
      <p:sp>
        <p:nvSpPr>
          <p:cNvPr id="34" name="Shape 32"/>
          <p:cNvSpPr/>
          <p:nvPr/>
        </p:nvSpPr>
        <p:spPr>
          <a:xfrm>
            <a:off x="8673901" y="3959169"/>
            <a:ext cx="673085" cy="165086"/>
          </a:xfrm>
          <a:prstGeom prst="roundRect">
            <a:avLst>
              <a:gd name="adj" fmla="val 11539"/>
            </a:avLst>
          </a:prstGeom>
          <a:solidFill>
            <a:srgbClr val="1F5FA8"/>
          </a:solidFill>
          <a:ln/>
        </p:spPr>
      </p:sp>
      <p:sp>
        <p:nvSpPr>
          <p:cNvPr id="35" name="Text 33"/>
          <p:cNvSpPr/>
          <p:nvPr/>
        </p:nvSpPr>
        <p:spPr>
          <a:xfrm>
            <a:off x="9423128" y="3935078"/>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0.051</a:t>
            </a:r>
            <a:endParaRPr lang="en-US" sz="1200" dirty="0">
              <a:latin typeface="IBM Plex Sans" charset="0"/>
              <a:ea typeface="IBM Plex Sans" charset="0"/>
              <a:cs typeface="IBM Plex Sans" charset="0"/>
            </a:endParaRPr>
          </a:p>
        </p:txBody>
      </p:sp>
      <p:sp>
        <p:nvSpPr>
          <p:cNvPr id="36" name="Text 34"/>
          <p:cNvSpPr/>
          <p:nvPr/>
        </p:nvSpPr>
        <p:spPr>
          <a:xfrm>
            <a:off x="6375316" y="4199192"/>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Authority</a:t>
            </a:r>
            <a:endParaRPr lang="en-US" sz="1200" dirty="0">
              <a:latin typeface="IBM Plex Sans" charset="0"/>
              <a:ea typeface="IBM Plex Sans" charset="0"/>
              <a:cs typeface="IBM Plex Sans" charset="0"/>
            </a:endParaRPr>
          </a:p>
        </p:txBody>
      </p:sp>
      <p:sp>
        <p:nvSpPr>
          <p:cNvPr id="37" name="Shape 35"/>
          <p:cNvSpPr/>
          <p:nvPr/>
        </p:nvSpPr>
        <p:spPr>
          <a:xfrm>
            <a:off x="8673901" y="4223283"/>
            <a:ext cx="247629" cy="165086"/>
          </a:xfrm>
          <a:prstGeom prst="roundRect">
            <a:avLst>
              <a:gd name="adj" fmla="val 11539"/>
            </a:avLst>
          </a:prstGeom>
          <a:solidFill>
            <a:srgbClr val="1F5FA8"/>
          </a:solidFill>
          <a:ln/>
        </p:spPr>
      </p:sp>
      <p:sp>
        <p:nvSpPr>
          <p:cNvPr id="38" name="Text 36"/>
          <p:cNvSpPr/>
          <p:nvPr/>
        </p:nvSpPr>
        <p:spPr>
          <a:xfrm>
            <a:off x="8997672" y="4199192"/>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0.018</a:t>
            </a:r>
            <a:endParaRPr lang="en-US" sz="1200" dirty="0">
              <a:latin typeface="IBM Plex Sans" charset="0"/>
              <a:ea typeface="IBM Plex Sans" charset="0"/>
              <a:cs typeface="IBM Plex Sans" charset="0"/>
            </a:endParaRPr>
          </a:p>
        </p:txBody>
      </p:sp>
      <p:sp>
        <p:nvSpPr>
          <p:cNvPr id="39" name="Text 37"/>
          <p:cNvSpPr/>
          <p:nvPr/>
        </p:nvSpPr>
        <p:spPr>
          <a:xfrm>
            <a:off x="6375316" y="4463306"/>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File Operation</a:t>
            </a:r>
            <a:endParaRPr lang="en-US" sz="1200" dirty="0">
              <a:latin typeface="IBM Plex Sans" charset="0"/>
              <a:ea typeface="IBM Plex Sans" charset="0"/>
              <a:cs typeface="IBM Plex Sans" charset="0"/>
            </a:endParaRPr>
          </a:p>
        </p:txBody>
      </p:sp>
      <p:sp>
        <p:nvSpPr>
          <p:cNvPr id="40" name="Shape 38"/>
          <p:cNvSpPr/>
          <p:nvPr/>
        </p:nvSpPr>
        <p:spPr>
          <a:xfrm>
            <a:off x="8673901" y="4487397"/>
            <a:ext cx="222208" cy="165086"/>
          </a:xfrm>
          <a:prstGeom prst="roundRect">
            <a:avLst>
              <a:gd name="adj" fmla="val 11539"/>
            </a:avLst>
          </a:prstGeom>
          <a:solidFill>
            <a:srgbClr val="1F5FA8"/>
          </a:solidFill>
          <a:ln/>
        </p:spPr>
      </p:sp>
      <p:sp>
        <p:nvSpPr>
          <p:cNvPr id="41" name="Text 39"/>
          <p:cNvSpPr/>
          <p:nvPr/>
        </p:nvSpPr>
        <p:spPr>
          <a:xfrm>
            <a:off x="8972252" y="4463306"/>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0.017</a:t>
            </a:r>
            <a:endParaRPr lang="en-US" sz="1200" dirty="0">
              <a:latin typeface="IBM Plex Sans" charset="0"/>
              <a:ea typeface="IBM Plex Sans" charset="0"/>
              <a:cs typeface="IBM Plex Sans" charset="0"/>
            </a:endParaRPr>
          </a:p>
        </p:txBody>
      </p:sp>
      <p:sp>
        <p:nvSpPr>
          <p:cNvPr id="42" name="Text 40"/>
          <p:cNvSpPr/>
          <p:nvPr/>
        </p:nvSpPr>
        <p:spPr>
          <a:xfrm>
            <a:off x="6375316" y="4727420"/>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Data Sensitivity Level</a:t>
            </a:r>
            <a:endParaRPr lang="en-US" sz="1200" dirty="0">
              <a:latin typeface="IBM Plex Sans" charset="0"/>
              <a:ea typeface="IBM Plex Sans" charset="0"/>
              <a:cs typeface="IBM Plex Sans" charset="0"/>
            </a:endParaRPr>
          </a:p>
        </p:txBody>
      </p:sp>
      <p:sp>
        <p:nvSpPr>
          <p:cNvPr id="43" name="Shape 41"/>
          <p:cNvSpPr/>
          <p:nvPr/>
        </p:nvSpPr>
        <p:spPr>
          <a:xfrm>
            <a:off x="8673901" y="4751512"/>
            <a:ext cx="196847" cy="165086"/>
          </a:xfrm>
          <a:prstGeom prst="roundRect">
            <a:avLst>
              <a:gd name="adj" fmla="val 11539"/>
            </a:avLst>
          </a:prstGeom>
          <a:solidFill>
            <a:srgbClr val="1F5FA8"/>
          </a:solidFill>
          <a:ln/>
        </p:spPr>
      </p:sp>
      <p:sp>
        <p:nvSpPr>
          <p:cNvPr id="44" name="Text 42"/>
          <p:cNvSpPr/>
          <p:nvPr/>
        </p:nvSpPr>
        <p:spPr>
          <a:xfrm>
            <a:off x="8946890" y="4727420"/>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0.015</a:t>
            </a:r>
            <a:endParaRPr lang="en-US" sz="1200" dirty="0">
              <a:latin typeface="IBM Plex Sans" charset="0"/>
              <a:ea typeface="IBM Plex Sans" charset="0"/>
              <a:cs typeface="IBM Plex Sans" charset="0"/>
            </a:endParaRPr>
          </a:p>
        </p:txBody>
      </p:sp>
      <p:sp>
        <p:nvSpPr>
          <p:cNvPr id="45" name="Text 43"/>
          <p:cNvSpPr/>
          <p:nvPr/>
        </p:nvSpPr>
        <p:spPr>
          <a:xfrm>
            <a:off x="6375316" y="4991528"/>
            <a:ext cx="22891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4"/>
                </a:solidFill>
                <a:latin typeface="IBM Plex Sans" pitchFamily="34" charset="0"/>
                <a:ea typeface="IBM Plex Sans" pitchFamily="34" charset="-122"/>
                <a:cs typeface="IBM Plex Sans" pitchFamily="34" charset="-120"/>
              </a:rPr>
              <a:t>Data Modification</a:t>
            </a:r>
            <a:endParaRPr lang="en-US" sz="1200" dirty="0">
              <a:latin typeface="IBM Plex Sans" charset="0"/>
              <a:ea typeface="IBM Plex Sans" charset="0"/>
              <a:cs typeface="IBM Plex Sans" charset="0"/>
            </a:endParaRPr>
          </a:p>
        </p:txBody>
      </p:sp>
      <p:sp>
        <p:nvSpPr>
          <p:cNvPr id="46" name="Shape 44"/>
          <p:cNvSpPr/>
          <p:nvPr/>
        </p:nvSpPr>
        <p:spPr>
          <a:xfrm>
            <a:off x="8673901" y="5015626"/>
            <a:ext cx="19021" cy="165086"/>
          </a:xfrm>
          <a:prstGeom prst="roundRect">
            <a:avLst>
              <a:gd name="adj" fmla="val 33384"/>
            </a:avLst>
          </a:prstGeom>
          <a:solidFill>
            <a:srgbClr val="1F5FA8"/>
          </a:solidFill>
          <a:ln/>
        </p:spPr>
      </p:sp>
      <p:sp>
        <p:nvSpPr>
          <p:cNvPr id="47" name="Text 45"/>
          <p:cNvSpPr/>
          <p:nvPr/>
        </p:nvSpPr>
        <p:spPr>
          <a:xfrm>
            <a:off x="8769064" y="4991528"/>
            <a:ext cx="48859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0.000</a:t>
            </a:r>
            <a:endParaRPr lang="en-US" sz="1200" dirty="0">
              <a:latin typeface="IBM Plex Sans" charset="0"/>
              <a:ea typeface="IBM Plex Sans" charset="0"/>
              <a:cs typeface="IBM Plex Sans" charset="0"/>
            </a:endParaRPr>
          </a:p>
        </p:txBody>
      </p:sp>
      <p:sp>
        <p:nvSpPr>
          <p:cNvPr id="48" name="Text 46"/>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49" name="Text 47"/>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750" y="812750"/>
            <a:ext cx="10883467"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BM Plex Sans" pitchFamily="34" charset="0"/>
                <a:ea typeface="IBM Plex Sans" pitchFamily="34" charset="-122"/>
                <a:cs typeface="IBM Plex Sans" pitchFamily="34" charset="-120"/>
              </a:rPr>
              <a:t>07 · LIMITS AND NEXT STEPS</a:t>
            </a:r>
            <a:endParaRPr lang="en-US" sz="1200" dirty="0">
              <a:latin typeface="IBM Plex Sans" charset="0"/>
              <a:ea typeface="IBM Plex Sans" charset="0"/>
              <a:cs typeface="IBM Plex Sans" charset="0"/>
            </a:endParaRPr>
          </a:p>
        </p:txBody>
      </p:sp>
      <p:sp>
        <p:nvSpPr>
          <p:cNvPr id="3" name="Text 1"/>
          <p:cNvSpPr/>
          <p:nvPr>
            <p:ph type="title"/>
          </p:nvPr>
        </p:nvSpPr>
        <p:spPr>
          <a:xfrm>
            <a:off x="812750" y="1102227"/>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What still limits us, and what comes next</a:t>
            </a:r>
            <a:endParaRPr lang="en-US" sz="3200" dirty="0">
              <a:latin typeface="Space Grotesk" charset="0"/>
              <a:ea typeface="Space Grotesk" charset="0"/>
              <a:cs typeface="Space Grotesk" charset="0"/>
            </a:endParaRPr>
          </a:p>
        </p:txBody>
      </p:sp>
      <p:sp>
        <p:nvSpPr>
          <p:cNvPr id="4" name="Shape 2"/>
          <p:cNvSpPr/>
          <p:nvPr/>
        </p:nvSpPr>
        <p:spPr>
          <a:xfrm>
            <a:off x="815925" y="1908008"/>
            <a:ext cx="5153766" cy="3333955"/>
          </a:xfrm>
          <a:prstGeom prst="roundRect">
            <a:avLst>
              <a:gd name="adj" fmla="val 2952"/>
            </a:avLst>
          </a:prstGeom>
          <a:solidFill>
            <a:srgbClr val="FCFBF8"/>
          </a:solidFill>
          <a:ln w="6350">
            <a:solidFill>
              <a:srgbClr val="E2DED4"/>
            </a:solidFill>
            <a:prstDash val="solid"/>
          </a:ln>
        </p:spPr>
      </p:sp>
      <p:sp>
        <p:nvSpPr>
          <p:cNvPr id="5" name="Text 3"/>
          <p:cNvSpPr/>
          <p:nvPr/>
        </p:nvSpPr>
        <p:spPr>
          <a:xfrm>
            <a:off x="1070584" y="2162665"/>
            <a:ext cx="4783782"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21A"/>
                </a:solidFill>
                <a:latin typeface="Space Grotesk" pitchFamily="34" charset="0"/>
                <a:ea typeface="Space Grotesk" pitchFamily="34" charset="-122"/>
                <a:cs typeface="Space Grotesk" pitchFamily="34" charset="-120"/>
              </a:rPr>
              <a:t>Limits</a:t>
            </a:r>
            <a:endParaRPr lang="en-US" sz="1800" dirty="0">
              <a:latin typeface="Space Grotesk" charset="0"/>
              <a:ea typeface="Space Grotesk" charset="0"/>
              <a:cs typeface="Space Grotesk" charset="0"/>
            </a:endParaRPr>
          </a:p>
        </p:txBody>
      </p:sp>
      <p:sp>
        <p:nvSpPr>
          <p:cNvPr id="6" name="Text 4"/>
          <p:cNvSpPr/>
          <p:nvPr/>
        </p:nvSpPr>
        <p:spPr>
          <a:xfrm>
            <a:off x="1070584" y="2576649"/>
            <a:ext cx="4783782" cy="523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4454"/>
                </a:solidFill>
                <a:latin typeface="IBM Plex Sans" pitchFamily="34" charset="0"/>
                <a:ea typeface="IBM Plex Sans" pitchFamily="34" charset="-122"/>
                <a:cs typeface="IBM Plex Sans" pitchFamily="34" charset="-120"/>
              </a:rPr>
              <a:t>Coarse attributes:</a:t>
            </a:r>
            <a:r>
              <a:rPr lang="en-US" sz="1400" dirty="0">
                <a:solidFill>
                  <a:srgbClr val="3B4454"/>
                </a:solidFill>
                <a:latin typeface="IBM Plex Sans" pitchFamily="34" charset="0"/>
                <a:ea typeface="IBM Plex Sans" pitchFamily="34" charset="-122"/>
                <a:cs typeface="IBM Plex Sans" pitchFamily="34" charset="-120"/>
              </a:rPr>
              <a:t> 85% of events share their attribute combination with the other label.</a:t>
            </a:r>
            <a:endParaRPr lang="en-US" sz="1400" dirty="0">
              <a:latin typeface="IBM Plex Sans" charset="0"/>
              <a:ea typeface="IBM Plex Sans" charset="0"/>
              <a:cs typeface="IBM Plex Sans" charset="0"/>
            </a:endParaRPr>
          </a:p>
        </p:txBody>
      </p:sp>
      <p:sp>
        <p:nvSpPr>
          <p:cNvPr id="7" name="Text 5"/>
          <p:cNvSpPr/>
          <p:nvPr/>
        </p:nvSpPr>
        <p:spPr>
          <a:xfrm>
            <a:off x="1070584" y="3214229"/>
            <a:ext cx="4783782" cy="523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4454"/>
                </a:solidFill>
                <a:latin typeface="IBM Plex Sans" pitchFamily="34" charset="0"/>
                <a:ea typeface="IBM Plex Sans" pitchFamily="34" charset="-122"/>
                <a:cs typeface="IBM Plex Sans" pitchFamily="34" charset="-120"/>
              </a:rPr>
              <a:t>Many alerts:</a:t>
            </a:r>
            <a:r>
              <a:rPr lang="en-US" sz="1400" dirty="0">
                <a:solidFill>
                  <a:srgbClr val="3B4454"/>
                </a:solidFill>
                <a:latin typeface="IBM Plex Sans" pitchFamily="34" charset="0"/>
                <a:ea typeface="IBM Plex Sans" pitchFamily="34" charset="-122"/>
                <a:cs typeface="IBM Plex Sans" pitchFamily="34" charset="-120"/>
              </a:rPr>
              <a:t> about half of all events raise one; one in two is a real leak.</a:t>
            </a:r>
            <a:endParaRPr lang="en-US" sz="1400" dirty="0">
              <a:latin typeface="IBM Plex Sans" charset="0"/>
              <a:ea typeface="IBM Plex Sans" charset="0"/>
              <a:cs typeface="IBM Plex Sans" charset="0"/>
            </a:endParaRPr>
          </a:p>
        </p:txBody>
      </p:sp>
      <p:sp>
        <p:nvSpPr>
          <p:cNvPr id="8" name="Text 6"/>
          <p:cNvSpPr/>
          <p:nvPr/>
        </p:nvSpPr>
        <p:spPr>
          <a:xfrm>
            <a:off x="1070584" y="3851808"/>
            <a:ext cx="4783782" cy="523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4454"/>
                </a:solidFill>
                <a:latin typeface="IBM Plex Sans" pitchFamily="34" charset="0"/>
                <a:ea typeface="IBM Plex Sans" pitchFamily="34" charset="-122"/>
                <a:cs typeface="IBM Plex Sans" pitchFamily="34" charset="-120"/>
              </a:rPr>
              <a:t>Long rules:</a:t>
            </a:r>
            <a:r>
              <a:rPr lang="en-US" sz="1400" dirty="0">
                <a:solidFill>
                  <a:srgbClr val="3B4454"/>
                </a:solidFill>
                <a:latin typeface="IBM Plex Sans" pitchFamily="34" charset="0"/>
                <a:ea typeface="IBM Plex Sans" pitchFamily="34" charset="-122"/>
                <a:cs typeface="IBM Plex Sans" pitchFamily="34" charset="-120"/>
              </a:rPr>
              <a:t> 545 leaves; the strongest rules need six to nine conditions.</a:t>
            </a:r>
            <a:endParaRPr lang="en-US" sz="1400" dirty="0">
              <a:latin typeface="IBM Plex Sans" charset="0"/>
              <a:ea typeface="IBM Plex Sans" charset="0"/>
              <a:cs typeface="IBM Plex Sans" charset="0"/>
            </a:endParaRPr>
          </a:p>
        </p:txBody>
      </p:sp>
      <p:sp>
        <p:nvSpPr>
          <p:cNvPr id="9" name="Text 7"/>
          <p:cNvSpPr/>
          <p:nvPr/>
        </p:nvSpPr>
        <p:spPr>
          <a:xfrm>
            <a:off x="1070584" y="4489388"/>
            <a:ext cx="4783782" cy="523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4454"/>
                </a:solidFill>
                <a:latin typeface="IBM Plex Sans" pitchFamily="34" charset="0"/>
                <a:ea typeface="IBM Plex Sans" pitchFamily="34" charset="-122"/>
                <a:cs typeface="IBM Plex Sans" pitchFamily="34" charset="-120"/>
              </a:rPr>
              <a:t>No user history:</a:t>
            </a:r>
            <a:r>
              <a:rPr lang="en-US" sz="1400" dirty="0">
                <a:solidFill>
                  <a:srgbClr val="3B4454"/>
                </a:solidFill>
                <a:latin typeface="IBM Plex Sans" pitchFamily="34" charset="0"/>
                <a:ea typeface="IBM Plex Sans" pitchFamily="34" charset="-122"/>
                <a:cs typeface="IBM Plex Sans" pitchFamily="34" charset="-120"/>
              </a:rPr>
              <a:t> each event is judged alone, and the data is synthetic.</a:t>
            </a:r>
            <a:endParaRPr lang="en-US" sz="1400" dirty="0">
              <a:latin typeface="IBM Plex Sans" charset="0"/>
              <a:ea typeface="IBM Plex Sans" charset="0"/>
              <a:cs typeface="IBM Plex Sans" charset="0"/>
            </a:endParaRPr>
          </a:p>
        </p:txBody>
      </p:sp>
      <p:sp>
        <p:nvSpPr>
          <p:cNvPr id="10" name="Shape 8"/>
          <p:cNvSpPr/>
          <p:nvPr/>
        </p:nvSpPr>
        <p:spPr>
          <a:xfrm>
            <a:off x="6226835" y="1904833"/>
            <a:ext cx="5152387" cy="3340305"/>
          </a:xfrm>
          <a:prstGeom prst="roundRect">
            <a:avLst>
              <a:gd name="adj" fmla="val 3042"/>
            </a:avLst>
          </a:prstGeom>
          <a:solidFill>
            <a:srgbClr val="14213D"/>
          </a:solidFill>
          <a:ln/>
        </p:spPr>
      </p:sp>
      <p:sp>
        <p:nvSpPr>
          <p:cNvPr id="11" name="Text 9"/>
          <p:cNvSpPr/>
          <p:nvPr/>
        </p:nvSpPr>
        <p:spPr>
          <a:xfrm>
            <a:off x="6480805" y="2158802"/>
            <a:ext cx="4783782"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A060"/>
                </a:solidFill>
                <a:latin typeface="Space Grotesk" pitchFamily="34" charset="0"/>
                <a:ea typeface="Space Grotesk" pitchFamily="34" charset="-122"/>
                <a:cs typeface="Space Grotesk" pitchFamily="34" charset="-120"/>
              </a:rPr>
              <a:t>Next steps</a:t>
            </a:r>
            <a:endParaRPr lang="en-US" sz="1800" dirty="0">
              <a:latin typeface="Space Grotesk" charset="0"/>
              <a:ea typeface="Space Grotesk" charset="0"/>
              <a:cs typeface="Space Grotesk" charset="0"/>
            </a:endParaRPr>
          </a:p>
        </p:txBody>
      </p:sp>
      <p:sp>
        <p:nvSpPr>
          <p:cNvPr id="12" name="Text 10"/>
          <p:cNvSpPr/>
          <p:nvPr/>
        </p:nvSpPr>
        <p:spPr>
          <a:xfrm>
            <a:off x="6480805" y="2572786"/>
            <a:ext cx="4783782" cy="77227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1 · Evasion test:</a:t>
            </a:r>
            <a:r>
              <a:rPr lang="en-US" sz="1400" dirty="0">
                <a:solidFill>
                  <a:srgbClr val="F5F3EE"/>
                </a:solidFill>
                <a:latin typeface="IBM Plex Sans" pitchFamily="34" charset="0"/>
                <a:ea typeface="IBM Plex Sans" pitchFamily="34" charset="-122"/>
                <a:cs typeface="IBM Plex Sans" pitchFamily="34" charset="-120"/>
              </a:rPr>
              <a:t> change leakage events the way an attacker would (working hours, internal destination) and measure the recall drop.</a:t>
            </a:r>
            <a:endParaRPr lang="en-US" sz="1400" dirty="0">
              <a:latin typeface="IBM Plex Sans" charset="0"/>
              <a:ea typeface="IBM Plex Sans" charset="0"/>
              <a:cs typeface="IBM Plex Sans" charset="0"/>
            </a:endParaRPr>
          </a:p>
        </p:txBody>
      </p:sp>
      <p:sp>
        <p:nvSpPr>
          <p:cNvPr id="13" name="Text 11"/>
          <p:cNvSpPr/>
          <p:nvPr/>
        </p:nvSpPr>
        <p:spPr>
          <a:xfrm>
            <a:off x="6480805" y="3459318"/>
            <a:ext cx="4783782" cy="523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2 · Prototype:</a:t>
            </a:r>
            <a:r>
              <a:rPr lang="en-US" sz="1400" dirty="0">
                <a:solidFill>
                  <a:srgbClr val="F5F3EE"/>
                </a:solidFill>
                <a:latin typeface="IBM Plex Sans" pitchFamily="34" charset="0"/>
                <a:ea typeface="IBM Plex Sans" pitchFamily="34" charset="-122"/>
                <a:cs typeface="IBM Plex Sans" pitchFamily="34" charset="-120"/>
              </a:rPr>
              <a:t> a scoring service and a dashboard that return the score, the label and the rule that fired.</a:t>
            </a:r>
            <a:endParaRPr lang="en-US" sz="1400" dirty="0">
              <a:latin typeface="IBM Plex Sans" charset="0"/>
              <a:ea typeface="IBM Plex Sans" charset="0"/>
              <a:cs typeface="IBM Plex Sans" charset="0"/>
            </a:endParaRPr>
          </a:p>
        </p:txBody>
      </p:sp>
      <p:sp>
        <p:nvSpPr>
          <p:cNvPr id="14" name="Text 12"/>
          <p:cNvSpPr/>
          <p:nvPr/>
        </p:nvSpPr>
        <p:spPr>
          <a:xfrm>
            <a:off x="6480805" y="4096897"/>
            <a:ext cx="4783782" cy="523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3 · Report:</a:t>
            </a:r>
            <a:r>
              <a:rPr lang="en-US" sz="1400" dirty="0">
                <a:solidFill>
                  <a:srgbClr val="F5F3EE"/>
                </a:solidFill>
                <a:latin typeface="IBM Plex Sans" pitchFamily="34" charset="0"/>
                <a:ea typeface="IBM Plex Sans" pitchFamily="34" charset="-122"/>
                <a:cs typeface="IBM Plex Sans" pitchFamily="34" charset="-120"/>
              </a:rPr>
              <a:t> add the evasion and prototype results to Chapter 2, then write the abstract and the conclusion.</a:t>
            </a:r>
            <a:endParaRPr lang="en-US" sz="1400" dirty="0">
              <a:latin typeface="IBM Plex Sans" charset="0"/>
              <a:ea typeface="IBM Plex Sans" charset="0"/>
              <a:cs typeface="IBM Plex Sans" charset="0"/>
            </a:endParaRPr>
          </a:p>
        </p:txBody>
      </p:sp>
      <p:sp>
        <p:nvSpPr>
          <p:cNvPr id="15" name="Text 13"/>
          <p:cNvSpPr/>
          <p:nvPr/>
        </p:nvSpPr>
        <p:spPr>
          <a:xfrm>
            <a:off x="812750" y="6238249"/>
            <a:ext cx="8502616"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Detecting Data Leakage in Cloud Storage · Seminar</a:t>
            </a:r>
            <a:endParaRPr lang="en-US" sz="1200" dirty="0">
              <a:latin typeface="IBM Plex Sans" charset="0"/>
              <a:ea typeface="IBM Plex Sans" charset="0"/>
              <a:cs typeface="IBM Plex Sans" charset="0"/>
            </a:endParaRPr>
          </a:p>
        </p:txBody>
      </p:sp>
      <p:sp>
        <p:nvSpPr>
          <p:cNvPr id="16" name="Text 14"/>
          <p:cNvSpPr/>
          <p:nvPr/>
        </p:nvSpPr>
        <p:spPr>
          <a:xfrm>
            <a:off x="10566454" y="6238249"/>
            <a:ext cx="812768"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676"/>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p:txBody>
      </p:sp>
    </p:spTree>
  </p:cSld>
  <p:clrMapOvr>
    <a:masterClrMapping/>
  </p:clrMapOvr>
</p:sld>
</file>

<file path=ppt/theme/theme1.xml><?xml version="1.0" encoding="utf-8"?>
<a:theme xmlns:a="http://schemas.openxmlformats.org/drawingml/2006/main" name="Detecting Data Leakage in Cloud Storage — Seminar">
  <a:themeElements>
    <a:clrScheme name="Detecting Data Leakage in Cloud Storage — Seminar">
      <a:dk1>
        <a:srgbClr val="14213D"/>
      </a:dk1>
      <a:lt1>
        <a:srgbClr val="F5F3EE"/>
      </a:lt1>
      <a:dk2>
        <a:srgbClr val="4C5669"/>
      </a:dk2>
      <a:lt2>
        <a:srgbClr val="DFDEDC"/>
      </a:lt2>
      <a:accent1>
        <a:srgbClr val="1F5FA8"/>
      </a:accent1>
      <a:accent2>
        <a:srgbClr val="B8521A"/>
      </a:accent2>
      <a:accent3>
        <a:srgbClr val="F0A060"/>
      </a:accent3>
      <a:accent4>
        <a:srgbClr val="FBE3D2"/>
      </a:accent4>
      <a:accent5>
        <a:srgbClr val="E8833A"/>
      </a:accent5>
      <a:accent6>
        <a:srgbClr val="8F3E12"/>
      </a:accent6>
      <a:hlink>
        <a:srgbClr val="0563C1"/>
      </a:hlink>
      <a:folHlink>
        <a:srgbClr val="954F72"/>
      </a:folHlink>
    </a:clrScheme>
    <a:fontScheme name="Detecting Data Leakage in Cloud Storage — Seminar">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Data Leakage in Cloud Storage — Seminar</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2026-10-31T10:42:25Z</dcterms:created>
  <dcterms:modified xsi:type="dcterms:W3CDTF">2026-10-31T10:42:25Z</dcterms:modified>
</cp:coreProperties>
</file>